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Barlow" panose="00000500000000000000" pitchFamily="2" charset="0"/>
      <p:regular r:id="rId11"/>
    </p:embeddedFont>
    <p:embeddedFont>
      <p:font typeface="Calibri" panose="020F0502020204030204" pitchFamily="34" charset="0"/>
      <p:regular r:id="rId12"/>
      <p:bold r:id="rId13"/>
    </p:embeddedFont>
    <p:embeddedFont>
      <p:font typeface="Segoe UI" panose="020B0502040204020203"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D8F1"/>
    <a:srgbClr val="83B3E2"/>
    <a:srgbClr val="56A5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81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Freeform 2"/>
          <p:cNvSpPr/>
          <p:nvPr/>
        </p:nvSpPr>
        <p:spPr>
          <a:xfrm>
            <a:off x="7858125" y="9238008"/>
            <a:ext cx="382242" cy="382242"/>
          </a:xfrm>
          <a:custGeom>
            <a:avLst/>
            <a:gdLst/>
            <a:ahLst/>
            <a:cxnLst/>
            <a:rect l="l" t="t" r="r" b="b"/>
            <a:pathLst>
              <a:path w="382242" h="382242">
                <a:moveTo>
                  <a:pt x="0" y="0"/>
                </a:moveTo>
                <a:lnTo>
                  <a:pt x="382242" y="0"/>
                </a:lnTo>
                <a:lnTo>
                  <a:pt x="382242" y="382242"/>
                </a:lnTo>
                <a:lnTo>
                  <a:pt x="0" y="3822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8991600" y="0"/>
            <a:ext cx="9296400" cy="10287000"/>
            <a:chOff x="0" y="0"/>
            <a:chExt cx="2448435" cy="2709333"/>
          </a:xfrm>
        </p:grpSpPr>
        <p:sp>
          <p:nvSpPr>
            <p:cNvPr id="4" name="Freeform 4"/>
            <p:cNvSpPr/>
            <p:nvPr/>
          </p:nvSpPr>
          <p:spPr>
            <a:xfrm>
              <a:off x="0" y="0"/>
              <a:ext cx="2448435" cy="2709333"/>
            </a:xfrm>
            <a:custGeom>
              <a:avLst/>
              <a:gdLst/>
              <a:ahLst/>
              <a:cxnLst/>
              <a:rect l="l" t="t" r="r" b="b"/>
              <a:pathLst>
                <a:path w="2448435" h="2709333">
                  <a:moveTo>
                    <a:pt x="0" y="0"/>
                  </a:moveTo>
                  <a:lnTo>
                    <a:pt x="2448435" y="0"/>
                  </a:lnTo>
                  <a:lnTo>
                    <a:pt x="2448435" y="2709333"/>
                  </a:lnTo>
                  <a:lnTo>
                    <a:pt x="0" y="2709333"/>
                  </a:lnTo>
                  <a:close/>
                </a:path>
              </a:pathLst>
            </a:custGeom>
            <a:solidFill>
              <a:srgbClr val="56A5E4"/>
            </a:solidFill>
          </p:spPr>
        </p:sp>
        <p:sp>
          <p:nvSpPr>
            <p:cNvPr id="5" name="TextBox 5"/>
            <p:cNvSpPr txBox="1"/>
            <p:nvPr/>
          </p:nvSpPr>
          <p:spPr>
            <a:xfrm>
              <a:off x="0" y="-38100"/>
              <a:ext cx="2448435" cy="2747433"/>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9687423" y="666750"/>
            <a:ext cx="7933827" cy="8984524"/>
            <a:chOff x="0" y="0"/>
            <a:chExt cx="977808" cy="1107302"/>
          </a:xfrm>
        </p:grpSpPr>
        <p:sp>
          <p:nvSpPr>
            <p:cNvPr id="7" name="Freeform 7"/>
            <p:cNvSpPr/>
            <p:nvPr/>
          </p:nvSpPr>
          <p:spPr>
            <a:xfrm>
              <a:off x="0" y="0"/>
              <a:ext cx="977808" cy="1107302"/>
            </a:xfrm>
            <a:custGeom>
              <a:avLst/>
              <a:gdLst/>
              <a:ahLst/>
              <a:cxnLst/>
              <a:rect l="l" t="t" r="r" b="b"/>
              <a:pathLst>
                <a:path w="977808" h="1107302">
                  <a:moveTo>
                    <a:pt x="36105" y="0"/>
                  </a:moveTo>
                  <a:lnTo>
                    <a:pt x="941703" y="0"/>
                  </a:lnTo>
                  <a:cubicBezTo>
                    <a:pt x="951279" y="0"/>
                    <a:pt x="960462" y="3804"/>
                    <a:pt x="967233" y="10575"/>
                  </a:cubicBezTo>
                  <a:cubicBezTo>
                    <a:pt x="974004" y="17346"/>
                    <a:pt x="977808" y="26529"/>
                    <a:pt x="977808" y="36105"/>
                  </a:cubicBezTo>
                  <a:lnTo>
                    <a:pt x="977808" y="1071197"/>
                  </a:lnTo>
                  <a:cubicBezTo>
                    <a:pt x="977808" y="1091137"/>
                    <a:pt x="961643" y="1107302"/>
                    <a:pt x="941703" y="1107302"/>
                  </a:cubicBezTo>
                  <a:lnTo>
                    <a:pt x="36105" y="1107302"/>
                  </a:lnTo>
                  <a:cubicBezTo>
                    <a:pt x="26529" y="1107302"/>
                    <a:pt x="17346" y="1103498"/>
                    <a:pt x="10575" y="1096727"/>
                  </a:cubicBezTo>
                  <a:cubicBezTo>
                    <a:pt x="3804" y="1089956"/>
                    <a:pt x="0" y="1080772"/>
                    <a:pt x="0" y="1071197"/>
                  </a:cubicBezTo>
                  <a:lnTo>
                    <a:pt x="0" y="36105"/>
                  </a:lnTo>
                  <a:cubicBezTo>
                    <a:pt x="0" y="16165"/>
                    <a:pt x="16165" y="0"/>
                    <a:pt x="36105" y="0"/>
                  </a:cubicBezTo>
                  <a:close/>
                </a:path>
              </a:pathLst>
            </a:custGeom>
            <a:blipFill>
              <a:blip r:embed="rId4"/>
              <a:stretch>
                <a:fillRect t="-173" b="-173"/>
              </a:stretch>
            </a:blipFill>
          </p:spPr>
        </p:sp>
      </p:grpSp>
      <p:grpSp>
        <p:nvGrpSpPr>
          <p:cNvPr id="8" name="Group 8"/>
          <p:cNvGrpSpPr/>
          <p:nvPr/>
        </p:nvGrpSpPr>
        <p:grpSpPr>
          <a:xfrm>
            <a:off x="666750" y="1586372"/>
            <a:ext cx="6886575" cy="5495214"/>
            <a:chOff x="0" y="0"/>
            <a:chExt cx="9182100" cy="7326952"/>
          </a:xfrm>
        </p:grpSpPr>
        <p:sp>
          <p:nvSpPr>
            <p:cNvPr id="9" name="TextBox 9"/>
            <p:cNvSpPr txBox="1"/>
            <p:nvPr/>
          </p:nvSpPr>
          <p:spPr>
            <a:xfrm>
              <a:off x="0" y="133350"/>
              <a:ext cx="9182100" cy="5522384"/>
            </a:xfrm>
            <a:prstGeom prst="rect">
              <a:avLst/>
            </a:prstGeom>
          </p:spPr>
          <p:txBody>
            <a:bodyPr lIns="0" tIns="0" rIns="0" bIns="0" rtlCol="0" anchor="t">
              <a:spAutoFit/>
            </a:bodyPr>
            <a:lstStyle/>
            <a:p>
              <a:pPr marL="0" lvl="0" indent="0" algn="l">
                <a:lnSpc>
                  <a:spcPts val="8000"/>
                </a:lnSpc>
              </a:pPr>
              <a:r>
                <a:rPr lang="en-US" sz="8000" spc="-200">
                  <a:solidFill>
                    <a:srgbClr val="56A5E4"/>
                  </a:solidFill>
                  <a:latin typeface="Barlow"/>
                  <a:ea typeface="Barlow"/>
                  <a:cs typeface="Barlow"/>
                  <a:sym typeface="Barlow"/>
                </a:rPr>
                <a:t>Smart Alternative Writing Systems Generator</a:t>
              </a:r>
            </a:p>
          </p:txBody>
        </p:sp>
        <p:sp>
          <p:nvSpPr>
            <p:cNvPr id="10" name="TextBox 10"/>
            <p:cNvSpPr txBox="1"/>
            <p:nvPr/>
          </p:nvSpPr>
          <p:spPr>
            <a:xfrm>
              <a:off x="0" y="5879575"/>
              <a:ext cx="9182100" cy="1447377"/>
            </a:xfrm>
            <a:prstGeom prst="rect">
              <a:avLst/>
            </a:prstGeom>
          </p:spPr>
          <p:txBody>
            <a:bodyPr lIns="0" tIns="0" rIns="0" bIns="0" rtlCol="0" anchor="t">
              <a:spAutoFit/>
            </a:bodyPr>
            <a:lstStyle/>
            <a:p>
              <a:pPr marL="0" lvl="0" indent="0" algn="l">
                <a:lnSpc>
                  <a:spcPts val="4480"/>
                </a:lnSpc>
              </a:pPr>
              <a:r>
                <a:rPr lang="en-US" sz="3200" spc="-80">
                  <a:solidFill>
                    <a:srgbClr val="83B3E2"/>
                  </a:solidFill>
                  <a:latin typeface="Barlow"/>
                  <a:ea typeface="Barlow"/>
                  <a:cs typeface="Barlow"/>
                  <a:sym typeface="Barlow"/>
                </a:rPr>
                <a:t>Presented by  Bilal Abeed &amp; Mohammed Omar &amp; Abdullah Altryky </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a:xfrm>
          <a:off x="0" y="0"/>
          <a:ext cx="0" cy="0"/>
          <a:chOff x="0" y="0"/>
          <a:chExt cx="0" cy="0"/>
        </a:xfrm>
      </p:grpSpPr>
      <p:grpSp>
        <p:nvGrpSpPr>
          <p:cNvPr id="2" name="Group 2"/>
          <p:cNvGrpSpPr/>
          <p:nvPr/>
        </p:nvGrpSpPr>
        <p:grpSpPr>
          <a:xfrm>
            <a:off x="-272852" y="399011"/>
            <a:ext cx="7837607" cy="9488978"/>
            <a:chOff x="0" y="0"/>
            <a:chExt cx="2064226" cy="2499155"/>
          </a:xfrm>
        </p:grpSpPr>
        <p:sp>
          <p:nvSpPr>
            <p:cNvPr id="3" name="Freeform 3"/>
            <p:cNvSpPr/>
            <p:nvPr/>
          </p:nvSpPr>
          <p:spPr>
            <a:xfrm>
              <a:off x="0" y="0"/>
              <a:ext cx="2064226" cy="2499155"/>
            </a:xfrm>
            <a:custGeom>
              <a:avLst/>
              <a:gdLst/>
              <a:ahLst/>
              <a:cxnLst/>
              <a:rect l="l" t="t" r="r" b="b"/>
              <a:pathLst>
                <a:path w="2064226" h="2499155">
                  <a:moveTo>
                    <a:pt x="36548" y="0"/>
                  </a:moveTo>
                  <a:lnTo>
                    <a:pt x="2027677" y="0"/>
                  </a:lnTo>
                  <a:cubicBezTo>
                    <a:pt x="2037371" y="0"/>
                    <a:pt x="2046667" y="3851"/>
                    <a:pt x="2053521" y="10705"/>
                  </a:cubicBezTo>
                  <a:cubicBezTo>
                    <a:pt x="2060375" y="17559"/>
                    <a:pt x="2064226" y="26855"/>
                    <a:pt x="2064226" y="36548"/>
                  </a:cubicBezTo>
                  <a:lnTo>
                    <a:pt x="2064226" y="2462606"/>
                  </a:lnTo>
                  <a:cubicBezTo>
                    <a:pt x="2064226" y="2472300"/>
                    <a:pt x="2060375" y="2481596"/>
                    <a:pt x="2053521" y="2488450"/>
                  </a:cubicBezTo>
                  <a:cubicBezTo>
                    <a:pt x="2046667" y="2495304"/>
                    <a:pt x="2037371" y="2499155"/>
                    <a:pt x="2027677" y="2499155"/>
                  </a:cubicBezTo>
                  <a:lnTo>
                    <a:pt x="36548" y="2499155"/>
                  </a:lnTo>
                  <a:cubicBezTo>
                    <a:pt x="26855" y="2499155"/>
                    <a:pt x="17559" y="2495304"/>
                    <a:pt x="10705" y="2488450"/>
                  </a:cubicBezTo>
                  <a:cubicBezTo>
                    <a:pt x="3851" y="2481596"/>
                    <a:pt x="0" y="2472300"/>
                    <a:pt x="0" y="2462606"/>
                  </a:cubicBezTo>
                  <a:lnTo>
                    <a:pt x="0" y="36548"/>
                  </a:lnTo>
                  <a:cubicBezTo>
                    <a:pt x="0" y="26855"/>
                    <a:pt x="3851" y="17559"/>
                    <a:pt x="10705" y="10705"/>
                  </a:cubicBezTo>
                  <a:cubicBezTo>
                    <a:pt x="17559" y="3851"/>
                    <a:pt x="26855" y="0"/>
                    <a:pt x="36548" y="0"/>
                  </a:cubicBezTo>
                  <a:close/>
                </a:path>
              </a:pathLst>
            </a:custGeom>
            <a:solidFill>
              <a:srgbClr val="000000">
                <a:alpha val="0"/>
              </a:srgbClr>
            </a:solidFill>
            <a:ln w="28575" cap="rnd">
              <a:solidFill>
                <a:srgbClr val="253439"/>
              </a:solidFill>
              <a:prstDash val="sysDot"/>
              <a:round/>
            </a:ln>
          </p:spPr>
        </p:sp>
        <p:sp>
          <p:nvSpPr>
            <p:cNvPr id="4" name="TextBox 4"/>
            <p:cNvSpPr txBox="1"/>
            <p:nvPr/>
          </p:nvSpPr>
          <p:spPr>
            <a:xfrm>
              <a:off x="0" y="-38100"/>
              <a:ext cx="2064226" cy="2537255"/>
            </a:xfrm>
            <a:prstGeom prst="rect">
              <a:avLst/>
            </a:prstGeom>
          </p:spPr>
          <p:txBody>
            <a:bodyPr lIns="50800" tIns="50800" rIns="50800" bIns="50800" rtlCol="0" anchor="ctr"/>
            <a:lstStyle/>
            <a:p>
              <a:pPr marL="0" lvl="0" indent="0" algn="ctr">
                <a:lnSpc>
                  <a:spcPts val="3080"/>
                </a:lnSpc>
                <a:spcBef>
                  <a:spcPct val="0"/>
                </a:spcBef>
              </a:pPr>
              <a:endParaRPr/>
            </a:p>
          </p:txBody>
        </p:sp>
      </p:grpSp>
      <p:grpSp>
        <p:nvGrpSpPr>
          <p:cNvPr id="5" name="Group 5"/>
          <p:cNvGrpSpPr/>
          <p:nvPr/>
        </p:nvGrpSpPr>
        <p:grpSpPr>
          <a:xfrm>
            <a:off x="-244277" y="624220"/>
            <a:ext cx="7516771" cy="8953500"/>
            <a:chOff x="0" y="0"/>
            <a:chExt cx="817139" cy="973324"/>
          </a:xfrm>
        </p:grpSpPr>
        <p:sp>
          <p:nvSpPr>
            <p:cNvPr id="6" name="Freeform 6"/>
            <p:cNvSpPr/>
            <p:nvPr/>
          </p:nvSpPr>
          <p:spPr>
            <a:xfrm>
              <a:off x="0" y="0"/>
              <a:ext cx="817139" cy="973324"/>
            </a:xfrm>
            <a:custGeom>
              <a:avLst/>
              <a:gdLst/>
              <a:ahLst/>
              <a:cxnLst/>
              <a:rect l="l" t="t" r="r" b="b"/>
              <a:pathLst>
                <a:path w="817139" h="973324">
                  <a:moveTo>
                    <a:pt x="25749" y="0"/>
                  </a:moveTo>
                  <a:lnTo>
                    <a:pt x="791390" y="0"/>
                  </a:lnTo>
                  <a:cubicBezTo>
                    <a:pt x="798219" y="0"/>
                    <a:pt x="804768" y="2713"/>
                    <a:pt x="809597" y="7542"/>
                  </a:cubicBezTo>
                  <a:cubicBezTo>
                    <a:pt x="814426" y="12370"/>
                    <a:pt x="817139" y="18920"/>
                    <a:pt x="817139" y="25749"/>
                  </a:cubicBezTo>
                  <a:lnTo>
                    <a:pt x="817139" y="947575"/>
                  </a:lnTo>
                  <a:cubicBezTo>
                    <a:pt x="817139" y="954404"/>
                    <a:pt x="814426" y="960953"/>
                    <a:pt x="809597" y="965782"/>
                  </a:cubicBezTo>
                  <a:cubicBezTo>
                    <a:pt x="804768" y="970611"/>
                    <a:pt x="798219" y="973324"/>
                    <a:pt x="791390" y="973324"/>
                  </a:cubicBezTo>
                  <a:lnTo>
                    <a:pt x="25749" y="973324"/>
                  </a:lnTo>
                  <a:cubicBezTo>
                    <a:pt x="18920" y="973324"/>
                    <a:pt x="12370" y="970611"/>
                    <a:pt x="7542" y="965782"/>
                  </a:cubicBezTo>
                  <a:cubicBezTo>
                    <a:pt x="2713" y="960953"/>
                    <a:pt x="0" y="954404"/>
                    <a:pt x="0" y="947575"/>
                  </a:cubicBezTo>
                  <a:lnTo>
                    <a:pt x="0" y="25749"/>
                  </a:lnTo>
                  <a:cubicBezTo>
                    <a:pt x="0" y="18920"/>
                    <a:pt x="2713" y="12370"/>
                    <a:pt x="7542" y="7542"/>
                  </a:cubicBezTo>
                  <a:cubicBezTo>
                    <a:pt x="12370" y="2713"/>
                    <a:pt x="18920" y="0"/>
                    <a:pt x="25749" y="0"/>
                  </a:cubicBezTo>
                  <a:close/>
                </a:path>
              </a:pathLst>
            </a:custGeom>
            <a:blipFill>
              <a:blip r:embed="rId2"/>
              <a:stretch>
                <a:fillRect t="-346" b="-346"/>
              </a:stretch>
            </a:blipFill>
          </p:spPr>
        </p:sp>
      </p:grpSp>
      <p:sp>
        <p:nvSpPr>
          <p:cNvPr id="7" name="Freeform 7"/>
          <p:cNvSpPr/>
          <p:nvPr/>
        </p:nvSpPr>
        <p:spPr>
          <a:xfrm>
            <a:off x="17259300" y="9238008"/>
            <a:ext cx="382242" cy="382242"/>
          </a:xfrm>
          <a:custGeom>
            <a:avLst/>
            <a:gdLst/>
            <a:ahLst/>
            <a:cxnLst/>
            <a:rect l="l" t="t" r="r" b="b"/>
            <a:pathLst>
              <a:path w="382242" h="382242">
                <a:moveTo>
                  <a:pt x="0" y="0"/>
                </a:moveTo>
                <a:lnTo>
                  <a:pt x="382242" y="0"/>
                </a:lnTo>
                <a:lnTo>
                  <a:pt x="382242" y="382242"/>
                </a:lnTo>
                <a:lnTo>
                  <a:pt x="0" y="3822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9296400" y="1640681"/>
            <a:ext cx="8324850" cy="6052395"/>
            <a:chOff x="0" y="104775"/>
            <a:chExt cx="11099800" cy="8069861"/>
          </a:xfrm>
        </p:grpSpPr>
        <p:sp>
          <p:nvSpPr>
            <p:cNvPr id="9" name="TextBox 9"/>
            <p:cNvSpPr txBox="1"/>
            <p:nvPr/>
          </p:nvSpPr>
          <p:spPr>
            <a:xfrm>
              <a:off x="0" y="104775"/>
              <a:ext cx="11099800" cy="2599003"/>
            </a:xfrm>
            <a:prstGeom prst="rect">
              <a:avLst/>
            </a:prstGeom>
          </p:spPr>
          <p:txBody>
            <a:bodyPr lIns="0" tIns="0" rIns="0" bIns="0" rtlCol="0" anchor="t">
              <a:spAutoFit/>
            </a:bodyPr>
            <a:lstStyle/>
            <a:p>
              <a:pPr marL="0" lvl="0" indent="0" algn="r" rtl="1">
                <a:lnSpc>
                  <a:spcPts val="7560"/>
                </a:lnSpc>
              </a:pPr>
              <a:r>
                <a:rPr lang="ar-LY" sz="7200" b="0" i="0" dirty="0">
                  <a:solidFill>
                    <a:srgbClr val="56A5E4"/>
                  </a:solidFill>
                  <a:effectLst/>
                  <a:latin typeface="Segoe UI" panose="020B0502040204020203" pitchFamily="34" charset="0"/>
                  <a:cs typeface="Segoe UI" panose="020B0502040204020203" pitchFamily="34" charset="0"/>
                </a:rPr>
                <a:t>نظرة عامة على المشروع</a:t>
              </a:r>
              <a:endParaRPr lang="ar-EG" sz="7200" spc="-180" dirty="0">
                <a:solidFill>
                  <a:srgbClr val="56A5E4"/>
                </a:solidFill>
                <a:latin typeface="Segoe UI" panose="020B0502040204020203" pitchFamily="34" charset="0"/>
                <a:ea typeface="Barlow"/>
                <a:cs typeface="Segoe UI" panose="020B0502040204020203" pitchFamily="34" charset="0"/>
                <a:sym typeface="Barlow"/>
                <a:rtl/>
              </a:endParaRPr>
            </a:p>
          </p:txBody>
        </p:sp>
        <p:sp>
          <p:nvSpPr>
            <p:cNvPr id="10" name="TextBox 10"/>
            <p:cNvSpPr txBox="1"/>
            <p:nvPr/>
          </p:nvSpPr>
          <p:spPr>
            <a:xfrm>
              <a:off x="0" y="3524236"/>
              <a:ext cx="11099800" cy="698077"/>
            </a:xfrm>
            <a:prstGeom prst="rect">
              <a:avLst/>
            </a:prstGeom>
          </p:spPr>
          <p:txBody>
            <a:bodyPr lIns="0" tIns="0" rIns="0" bIns="0" rtlCol="0" anchor="t">
              <a:spAutoFit/>
            </a:bodyPr>
            <a:lstStyle/>
            <a:p>
              <a:pPr marL="0" lvl="0" indent="0" algn="r" rtl="1">
                <a:lnSpc>
                  <a:spcPts val="4480"/>
                </a:lnSpc>
              </a:pPr>
              <a:r>
                <a:rPr lang="ar-LY" sz="3200" b="1" i="0" dirty="0">
                  <a:solidFill>
                    <a:srgbClr val="83B3E2"/>
                  </a:solidFill>
                  <a:effectLst/>
                  <a:latin typeface="Segoe UI" panose="020B0502040204020203" pitchFamily="34" charset="0"/>
                  <a:cs typeface="Segoe UI" panose="020B0502040204020203" pitchFamily="34" charset="0"/>
                </a:rPr>
                <a:t>ما هو النظام؟</a:t>
              </a:r>
              <a:endParaRPr lang="ar-EG" sz="3200" b="1" spc="-8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1" name="TextBox 11"/>
            <p:cNvSpPr txBox="1"/>
            <p:nvPr/>
          </p:nvSpPr>
          <p:spPr>
            <a:xfrm>
              <a:off x="0" y="4727539"/>
              <a:ext cx="11099800" cy="3447097"/>
            </a:xfrm>
            <a:prstGeom prst="rect">
              <a:avLst/>
            </a:prstGeom>
          </p:spPr>
          <p:txBody>
            <a:bodyPr lIns="0" tIns="0" rIns="0" bIns="0" rtlCol="0" anchor="t">
              <a:spAutoFit/>
            </a:bodyPr>
            <a:lstStyle/>
            <a:p>
              <a:pPr algn="r" rtl="1"/>
              <a:r>
                <a:rPr lang="ar-LY" sz="2400" b="0" i="0" dirty="0">
                  <a:solidFill>
                    <a:srgbClr val="C6D8F1"/>
                  </a:solidFill>
                  <a:effectLst/>
                  <a:latin typeface="Segoe UI" panose="020B0502040204020203" pitchFamily="34" charset="0"/>
                  <a:cs typeface="Segoe UI" panose="020B0502040204020203" pitchFamily="34" charset="0"/>
                </a:rPr>
                <a:t>برنامج لتحويل النصوص إلى أنظمة كتابة بديلة:</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شفرة مورس </a:t>
              </a:r>
              <a:r>
                <a:rPr lang="en-US" sz="2400" b="0" i="0" dirty="0">
                  <a:solidFill>
                    <a:srgbClr val="C6D8F1"/>
                  </a:solidFill>
                  <a:effectLst/>
                  <a:latin typeface="Segoe UI" panose="020B0502040204020203" pitchFamily="34" charset="0"/>
                  <a:cs typeface="Segoe UI" panose="020B0502040204020203" pitchFamily="34" charset="0"/>
                </a:rPr>
                <a:t>Morse Code)</a:t>
              </a:r>
              <a:r>
                <a:rPr lang="ar-EG" sz="2400" b="0" i="0" dirty="0">
                  <a:solidFill>
                    <a:srgbClr val="C6D8F1"/>
                  </a:solidFill>
                  <a:effectLst/>
                  <a:latin typeface="Segoe UI" panose="020B0502040204020203" pitchFamily="34" charset="0"/>
                  <a:cs typeface="Segoe UI" panose="020B0502040204020203" pitchFamily="34" charset="0"/>
                </a:rPr>
                <a:t>)</a:t>
              </a:r>
              <a:endParaRPr lang="en-US"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خط برايل (</a:t>
              </a:r>
              <a:r>
                <a:rPr lang="en-US" sz="2400" b="0" i="0" dirty="0">
                  <a:solidFill>
                    <a:srgbClr val="C6D8F1"/>
                  </a:solidFill>
                  <a:effectLst/>
                  <a:latin typeface="Segoe UI" panose="020B0502040204020203" pitchFamily="34" charset="0"/>
                  <a:cs typeface="Segoe UI" panose="020B0502040204020203" pitchFamily="34" charset="0"/>
                </a:rPr>
                <a:t> Braille </a:t>
              </a:r>
              <a:r>
                <a:rPr lang="ar-LY" sz="2400" b="0" i="0" dirty="0">
                  <a:solidFill>
                    <a:srgbClr val="C6D8F1"/>
                  </a:solidFill>
                  <a:effectLst/>
                  <a:latin typeface="Segoe UI" panose="020B0502040204020203" pitchFamily="34" charset="0"/>
                  <a:cs typeface="Segoe UI" panose="020B0502040204020203" pitchFamily="34" charset="0"/>
                </a:rPr>
                <a:t>تمثيل نصي)</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رموز سرية مخصصة </a:t>
              </a:r>
              <a:r>
                <a:rPr lang="en-US" sz="2400" b="0" i="0" dirty="0">
                  <a:solidFill>
                    <a:srgbClr val="C6D8F1"/>
                  </a:solidFill>
                  <a:effectLst/>
                  <a:latin typeface="Segoe UI" panose="020B0502040204020203" pitchFamily="34" charset="0"/>
                  <a:cs typeface="Segoe UI" panose="020B0502040204020203" pitchFamily="34" charset="0"/>
                </a:rPr>
                <a:t>Custom Cipher)</a:t>
              </a:r>
              <a:r>
                <a:rPr lang="ar-EG" sz="2400" b="0" i="0" dirty="0">
                  <a:solidFill>
                    <a:srgbClr val="C6D8F1"/>
                  </a:solidFill>
                  <a:effectLst/>
                  <a:latin typeface="Segoe UI" panose="020B0502040204020203" pitchFamily="34" charset="0"/>
                  <a:cs typeface="Segoe UI" panose="020B0502040204020203" pitchFamily="34" charset="0"/>
                </a:rPr>
                <a:t>)</a:t>
              </a:r>
              <a:endParaRPr lang="en-US"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يدعم التشفير وفك التشفير</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واجهة رسومية بسيطة باستخدام </a:t>
              </a:r>
              <a:r>
                <a:rPr lang="en-US" sz="2400" b="0" i="0" dirty="0">
                  <a:solidFill>
                    <a:srgbClr val="C6D8F1"/>
                  </a:solidFill>
                  <a:effectLst/>
                  <a:latin typeface="Segoe UI" panose="020B0502040204020203" pitchFamily="34" charset="0"/>
                  <a:cs typeface="Segoe UI" panose="020B0502040204020203" pitchFamily="34" charset="0"/>
                </a:rPr>
                <a:t>Java Swing</a:t>
              </a:r>
              <a:endParaRPr lang="en-US"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تحكم في الوصول حسب دور المستخدم (طالب/باحث)</a:t>
              </a:r>
              <a:endParaRPr lang="ar-LY" sz="2400" dirty="0">
                <a:solidFill>
                  <a:srgbClr val="C6D8F1"/>
                </a:solidFill>
                <a:latin typeface="Segoe UI" panose="020B0502040204020203" pitchFamily="34" charset="0"/>
                <a:cs typeface="Segoe UI" panose="020B0502040204020203" pitchFamily="34" charset="0"/>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394212" y="684081"/>
            <a:ext cx="8252337" cy="10287000"/>
            <a:chOff x="0" y="0"/>
            <a:chExt cx="2173455" cy="2709333"/>
          </a:xfrm>
        </p:grpSpPr>
        <p:sp>
          <p:nvSpPr>
            <p:cNvPr id="3" name="Freeform 3"/>
            <p:cNvSpPr/>
            <p:nvPr/>
          </p:nvSpPr>
          <p:spPr>
            <a:xfrm>
              <a:off x="0" y="0"/>
              <a:ext cx="2173455" cy="2709333"/>
            </a:xfrm>
            <a:custGeom>
              <a:avLst/>
              <a:gdLst/>
              <a:ahLst/>
              <a:cxnLst/>
              <a:rect l="l" t="t" r="r" b="b"/>
              <a:pathLst>
                <a:path w="2173455" h="2709333">
                  <a:moveTo>
                    <a:pt x="35650" y="0"/>
                  </a:moveTo>
                  <a:lnTo>
                    <a:pt x="2137806" y="0"/>
                  </a:lnTo>
                  <a:cubicBezTo>
                    <a:pt x="2157494" y="0"/>
                    <a:pt x="2173455" y="15961"/>
                    <a:pt x="2173455" y="35650"/>
                  </a:cubicBezTo>
                  <a:lnTo>
                    <a:pt x="2173455" y="2673684"/>
                  </a:lnTo>
                  <a:cubicBezTo>
                    <a:pt x="2173455" y="2683139"/>
                    <a:pt x="2169699" y="2692206"/>
                    <a:pt x="2163014" y="2698892"/>
                  </a:cubicBezTo>
                  <a:cubicBezTo>
                    <a:pt x="2156328" y="2705577"/>
                    <a:pt x="2147260" y="2709333"/>
                    <a:pt x="2137806" y="2709333"/>
                  </a:cubicBezTo>
                  <a:lnTo>
                    <a:pt x="35650" y="2709333"/>
                  </a:lnTo>
                  <a:cubicBezTo>
                    <a:pt x="15961" y="2709333"/>
                    <a:pt x="0" y="2693372"/>
                    <a:pt x="0" y="2673684"/>
                  </a:cubicBezTo>
                  <a:lnTo>
                    <a:pt x="0" y="35650"/>
                  </a:lnTo>
                  <a:cubicBezTo>
                    <a:pt x="0" y="26195"/>
                    <a:pt x="3756" y="17127"/>
                    <a:pt x="10442" y="10442"/>
                  </a:cubicBezTo>
                  <a:cubicBezTo>
                    <a:pt x="17127" y="3756"/>
                    <a:pt x="26195" y="0"/>
                    <a:pt x="35650" y="0"/>
                  </a:cubicBezTo>
                  <a:close/>
                </a:path>
              </a:pathLst>
            </a:custGeom>
            <a:solidFill>
              <a:srgbClr val="1F4E79"/>
            </a:solidFill>
          </p:spPr>
        </p:sp>
        <p:sp>
          <p:nvSpPr>
            <p:cNvPr id="4" name="TextBox 4"/>
            <p:cNvSpPr txBox="1"/>
            <p:nvPr/>
          </p:nvSpPr>
          <p:spPr>
            <a:xfrm>
              <a:off x="0" y="-57150"/>
              <a:ext cx="2173455" cy="276648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338975" y="6935609"/>
            <a:ext cx="5025275" cy="4344738"/>
            <a:chOff x="0" y="0"/>
            <a:chExt cx="1323529" cy="1144293"/>
          </a:xfrm>
        </p:grpSpPr>
        <p:sp>
          <p:nvSpPr>
            <p:cNvPr id="6" name="Freeform 6"/>
            <p:cNvSpPr/>
            <p:nvPr/>
          </p:nvSpPr>
          <p:spPr>
            <a:xfrm>
              <a:off x="0" y="0"/>
              <a:ext cx="1323529" cy="1144293"/>
            </a:xfrm>
            <a:custGeom>
              <a:avLst/>
              <a:gdLst/>
              <a:ahLst/>
              <a:cxnLst/>
              <a:rect l="l" t="t" r="r" b="b"/>
              <a:pathLst>
                <a:path w="1323529" h="1144293">
                  <a:moveTo>
                    <a:pt x="57002" y="0"/>
                  </a:moveTo>
                  <a:lnTo>
                    <a:pt x="1266527" y="0"/>
                  </a:lnTo>
                  <a:cubicBezTo>
                    <a:pt x="1281645" y="0"/>
                    <a:pt x="1296144" y="6006"/>
                    <a:pt x="1306834" y="16696"/>
                  </a:cubicBezTo>
                  <a:cubicBezTo>
                    <a:pt x="1317524" y="27385"/>
                    <a:pt x="1323529" y="41884"/>
                    <a:pt x="1323529" y="57002"/>
                  </a:cubicBezTo>
                  <a:lnTo>
                    <a:pt x="1323529" y="1087291"/>
                  </a:lnTo>
                  <a:cubicBezTo>
                    <a:pt x="1323529" y="1102409"/>
                    <a:pt x="1317524" y="1116908"/>
                    <a:pt x="1306834" y="1127598"/>
                  </a:cubicBezTo>
                  <a:cubicBezTo>
                    <a:pt x="1296144" y="1138288"/>
                    <a:pt x="1281645" y="1144293"/>
                    <a:pt x="1266527" y="1144293"/>
                  </a:cubicBezTo>
                  <a:lnTo>
                    <a:pt x="57002" y="1144293"/>
                  </a:lnTo>
                  <a:cubicBezTo>
                    <a:pt x="41884" y="1144293"/>
                    <a:pt x="27385" y="1138288"/>
                    <a:pt x="16696" y="1127598"/>
                  </a:cubicBezTo>
                  <a:cubicBezTo>
                    <a:pt x="6006" y="1116908"/>
                    <a:pt x="0" y="1102409"/>
                    <a:pt x="0" y="1087291"/>
                  </a:cubicBezTo>
                  <a:lnTo>
                    <a:pt x="0" y="57002"/>
                  </a:lnTo>
                  <a:cubicBezTo>
                    <a:pt x="0" y="41884"/>
                    <a:pt x="6006" y="27385"/>
                    <a:pt x="16696" y="16696"/>
                  </a:cubicBezTo>
                  <a:cubicBezTo>
                    <a:pt x="27385" y="6006"/>
                    <a:pt x="41884" y="0"/>
                    <a:pt x="57002" y="0"/>
                  </a:cubicBezTo>
                  <a:close/>
                </a:path>
              </a:pathLst>
            </a:custGeom>
            <a:solidFill>
              <a:srgbClr val="000000">
                <a:alpha val="0"/>
              </a:srgbClr>
            </a:solidFill>
            <a:ln w="28575" cap="rnd">
              <a:solidFill>
                <a:srgbClr val="253439"/>
              </a:solidFill>
              <a:prstDash val="sysDot"/>
              <a:round/>
            </a:ln>
          </p:spPr>
        </p:sp>
        <p:sp>
          <p:nvSpPr>
            <p:cNvPr id="7" name="TextBox 7"/>
            <p:cNvSpPr txBox="1"/>
            <p:nvPr/>
          </p:nvSpPr>
          <p:spPr>
            <a:xfrm>
              <a:off x="0" y="-57150"/>
              <a:ext cx="1323529" cy="120144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8" name="Freeform 8"/>
          <p:cNvSpPr/>
          <p:nvPr/>
        </p:nvSpPr>
        <p:spPr>
          <a:xfrm>
            <a:off x="3898771" y="7340896"/>
            <a:ext cx="382242" cy="382242"/>
          </a:xfrm>
          <a:custGeom>
            <a:avLst/>
            <a:gdLst/>
            <a:ahLst/>
            <a:cxnLst/>
            <a:rect l="l" t="t" r="r" b="b"/>
            <a:pathLst>
              <a:path w="382242" h="382242">
                <a:moveTo>
                  <a:pt x="0" y="0"/>
                </a:moveTo>
                <a:lnTo>
                  <a:pt x="382242" y="0"/>
                </a:lnTo>
                <a:lnTo>
                  <a:pt x="382242" y="382243"/>
                </a:lnTo>
                <a:lnTo>
                  <a:pt x="0" y="382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9296400" y="1519265"/>
            <a:ext cx="8324850" cy="2017606"/>
            <a:chOff x="0" y="-57150"/>
            <a:chExt cx="11099800" cy="2690141"/>
          </a:xfrm>
        </p:grpSpPr>
        <p:sp>
          <p:nvSpPr>
            <p:cNvPr id="10" name="TextBox 10"/>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التحديات التقنية</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1" name="TextBox 11"/>
            <p:cNvSpPr txBox="1"/>
            <p:nvPr/>
          </p:nvSpPr>
          <p:spPr>
            <a:xfrm>
              <a:off x="0" y="1155663"/>
              <a:ext cx="11099800" cy="1477328"/>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كفاءة الأداء: إنشاء مشفرات متعددة بكلفة منخفضة</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الأمان: منع الوصول غير المصرح به للرموز السرية</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المرونة: تغيير طريقة العرض دون تعديل الكود الأساسي</a:t>
              </a:r>
              <a:endParaRPr lang="ar-LY" sz="2400" dirty="0">
                <a:solidFill>
                  <a:srgbClr val="C6D8F1"/>
                </a:solidFill>
                <a:latin typeface="Segoe UI" panose="020B0502040204020203" pitchFamily="34" charset="0"/>
                <a:cs typeface="Segoe UI" panose="020B0502040204020203" pitchFamily="34" charset="0"/>
              </a:endParaRPr>
            </a:p>
          </p:txBody>
        </p:sp>
      </p:grpSp>
      <p:grpSp>
        <p:nvGrpSpPr>
          <p:cNvPr id="12" name="Group 12"/>
          <p:cNvGrpSpPr/>
          <p:nvPr/>
        </p:nvGrpSpPr>
        <p:grpSpPr>
          <a:xfrm>
            <a:off x="9296400" y="5545809"/>
            <a:ext cx="8324850" cy="2382520"/>
            <a:chOff x="0" y="-57150"/>
            <a:chExt cx="11099800" cy="3176694"/>
          </a:xfrm>
        </p:grpSpPr>
        <p:sp>
          <p:nvSpPr>
            <p:cNvPr id="13" name="TextBox 13"/>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الحل</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4" name="TextBox 14"/>
            <p:cNvSpPr txBox="1"/>
            <p:nvPr/>
          </p:nvSpPr>
          <p:spPr>
            <a:xfrm>
              <a:off x="0" y="1149773"/>
              <a:ext cx="11099800" cy="1969771"/>
            </a:xfrm>
            <a:prstGeom prst="rect">
              <a:avLst/>
            </a:prstGeom>
          </p:spPr>
          <p:txBody>
            <a:bodyPr lIns="0" tIns="0" rIns="0" bIns="0" rtlCol="0" anchor="t">
              <a:spAutoFit/>
            </a:bodyPr>
            <a:lstStyle/>
            <a:p>
              <a:pPr algn="r" rtl="1"/>
              <a:r>
                <a:rPr lang="ar-LY" sz="2400" b="0" i="0" dirty="0">
                  <a:solidFill>
                    <a:srgbClr val="C6D8F1"/>
                  </a:solidFill>
                  <a:effectLst/>
                  <a:latin typeface="Segoe UI" panose="020B0502040204020203" pitchFamily="34" charset="0"/>
                  <a:cs typeface="Segoe UI" panose="020B0502040204020203" pitchFamily="34" charset="0"/>
                </a:rPr>
                <a:t>دمج ثلاثة أنماط تصميم:</a:t>
              </a:r>
              <a:endParaRPr lang="ar-LY" sz="2400" dirty="0">
                <a:solidFill>
                  <a:srgbClr val="C6D8F1"/>
                </a:solidFill>
                <a:effectLst/>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النمط الأولي (</a:t>
              </a:r>
              <a:r>
                <a:rPr lang="en-US" sz="2400" b="0" i="0" dirty="0">
                  <a:solidFill>
                    <a:srgbClr val="C6D8F1"/>
                  </a:solidFill>
                  <a:effectLst/>
                  <a:latin typeface="Segoe UI" panose="020B0502040204020203" pitchFamily="34" charset="0"/>
                  <a:cs typeface="Segoe UI" panose="020B0502040204020203" pitchFamily="34" charset="0"/>
                </a:rPr>
                <a:t> (Prototype </a:t>
              </a:r>
              <a:r>
                <a:rPr lang="ar-LY" sz="2400" b="0" i="0" dirty="0">
                  <a:solidFill>
                    <a:srgbClr val="C6D8F1"/>
                  </a:solidFill>
                  <a:effectLst/>
                  <a:latin typeface="Segoe UI" panose="020B0502040204020203" pitchFamily="34" charset="0"/>
                  <a:cs typeface="Segoe UI" panose="020B0502040204020203" pitchFamily="34" charset="0"/>
                </a:rPr>
                <a:t>لإنشاء الكائنات</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الوكيل</a:t>
              </a:r>
              <a:r>
                <a:rPr lang="en-US" sz="2400" b="0" i="0" dirty="0">
                  <a:solidFill>
                    <a:srgbClr val="C6D8F1"/>
                  </a:solidFill>
                  <a:effectLst/>
                  <a:latin typeface="Segoe UI" panose="020B0502040204020203" pitchFamily="34" charset="0"/>
                  <a:cs typeface="Segoe UI" panose="020B0502040204020203" pitchFamily="34" charset="0"/>
                </a:rPr>
                <a:t> (Proxy) </a:t>
              </a:r>
              <a:r>
                <a:rPr lang="ar-LY" sz="2400" b="0" i="0" dirty="0">
                  <a:solidFill>
                    <a:srgbClr val="C6D8F1"/>
                  </a:solidFill>
                  <a:effectLst/>
                  <a:latin typeface="Segoe UI" panose="020B0502040204020203" pitchFamily="34" charset="0"/>
                  <a:cs typeface="Segoe UI" panose="020B0502040204020203" pitchFamily="34" charset="0"/>
                </a:rPr>
                <a:t>للتحكم في الوصول</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الإستراتيجية (</a:t>
              </a:r>
              <a:r>
                <a:rPr lang="en-US" sz="2400" b="0" i="0" dirty="0">
                  <a:solidFill>
                    <a:srgbClr val="C6D8F1"/>
                  </a:solidFill>
                  <a:effectLst/>
                  <a:latin typeface="Segoe UI" panose="020B0502040204020203" pitchFamily="34" charset="0"/>
                  <a:cs typeface="Segoe UI" panose="020B0502040204020203" pitchFamily="34" charset="0"/>
                </a:rPr>
                <a:t> (Strategy</a:t>
              </a:r>
              <a:r>
                <a:rPr lang="ar-LY" sz="2400" b="0" i="0" dirty="0">
                  <a:solidFill>
                    <a:srgbClr val="C6D8F1"/>
                  </a:solidFill>
                  <a:effectLst/>
                  <a:latin typeface="Segoe UI" panose="020B0502040204020203" pitchFamily="34" charset="0"/>
                  <a:cs typeface="Segoe UI" panose="020B0502040204020203" pitchFamily="34" charset="0"/>
                </a:rPr>
                <a:t>لإدارة سلوك العرض</a:t>
              </a:r>
              <a:endParaRPr lang="ar-LY" sz="2400" dirty="0">
                <a:solidFill>
                  <a:srgbClr val="C6D8F1"/>
                </a:solidFill>
                <a:latin typeface="Segoe UI" panose="020B0502040204020203" pitchFamily="34" charset="0"/>
                <a:cs typeface="Segoe UI" panose="020B0502040204020203" pitchFamily="34" charset="0"/>
              </a:endParaRPr>
            </a:p>
          </p:txBody>
        </p:sp>
      </p:grpSp>
      <p:sp>
        <p:nvSpPr>
          <p:cNvPr id="15" name="TextBox 15"/>
          <p:cNvSpPr txBox="1"/>
          <p:nvPr/>
        </p:nvSpPr>
        <p:spPr>
          <a:xfrm>
            <a:off x="666750" y="1666875"/>
            <a:ext cx="6886575" cy="1949252"/>
          </a:xfrm>
          <a:prstGeom prst="rect">
            <a:avLst/>
          </a:prstGeom>
        </p:spPr>
        <p:txBody>
          <a:bodyPr lIns="0" tIns="0" rIns="0" bIns="0" rtlCol="0" anchor="t">
            <a:spAutoFit/>
          </a:bodyPr>
          <a:lstStyle/>
          <a:p>
            <a:pPr marL="0" lvl="0" indent="0" algn="r" rtl="1">
              <a:lnSpc>
                <a:spcPts val="7560"/>
              </a:lnSpc>
              <a:spcBef>
                <a:spcPct val="0"/>
              </a:spcBef>
            </a:pPr>
            <a:r>
              <a:rPr lang="ar-LY" sz="7200" b="0" i="0" dirty="0">
                <a:solidFill>
                  <a:srgbClr val="56A5E4"/>
                </a:solidFill>
                <a:effectLst/>
                <a:latin typeface="Segoe UI" panose="020B0502040204020203" pitchFamily="34" charset="0"/>
                <a:cs typeface="Segoe UI" panose="020B0502040204020203" pitchFamily="34" charset="0"/>
              </a:rPr>
              <a:t>التحديات التقنية والحل</a:t>
            </a:r>
            <a:endParaRPr lang="ar-EG" sz="7200" u="none" strike="noStrike" spc="-180" dirty="0">
              <a:solidFill>
                <a:srgbClr val="56A5E4"/>
              </a:solidFill>
              <a:latin typeface="Segoe UI" panose="020B0502040204020203" pitchFamily="34" charset="0"/>
              <a:ea typeface="Barlow"/>
              <a:cs typeface="Segoe UI" panose="020B0502040204020203" pitchFamily="34" charset="0"/>
              <a:sym typeface="Barlow"/>
              <a:rt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a:xfrm>
          <a:off x="0" y="0"/>
          <a:ext cx="0" cy="0"/>
          <a:chOff x="0" y="0"/>
          <a:chExt cx="0" cy="0"/>
        </a:xfrm>
      </p:grpSpPr>
      <p:grpSp>
        <p:nvGrpSpPr>
          <p:cNvPr id="2" name="Group 2"/>
          <p:cNvGrpSpPr/>
          <p:nvPr/>
        </p:nvGrpSpPr>
        <p:grpSpPr>
          <a:xfrm>
            <a:off x="-394212" y="684081"/>
            <a:ext cx="8252337" cy="10287000"/>
            <a:chOff x="0" y="0"/>
            <a:chExt cx="2173455" cy="2709333"/>
          </a:xfrm>
        </p:grpSpPr>
        <p:sp>
          <p:nvSpPr>
            <p:cNvPr id="3" name="Freeform 3"/>
            <p:cNvSpPr/>
            <p:nvPr/>
          </p:nvSpPr>
          <p:spPr>
            <a:xfrm>
              <a:off x="0" y="0"/>
              <a:ext cx="2173455" cy="2709333"/>
            </a:xfrm>
            <a:custGeom>
              <a:avLst/>
              <a:gdLst/>
              <a:ahLst/>
              <a:cxnLst/>
              <a:rect l="l" t="t" r="r" b="b"/>
              <a:pathLst>
                <a:path w="2173455" h="2709333">
                  <a:moveTo>
                    <a:pt x="35650" y="0"/>
                  </a:moveTo>
                  <a:lnTo>
                    <a:pt x="2137806" y="0"/>
                  </a:lnTo>
                  <a:cubicBezTo>
                    <a:pt x="2157494" y="0"/>
                    <a:pt x="2173455" y="15961"/>
                    <a:pt x="2173455" y="35650"/>
                  </a:cubicBezTo>
                  <a:lnTo>
                    <a:pt x="2173455" y="2673684"/>
                  </a:lnTo>
                  <a:cubicBezTo>
                    <a:pt x="2173455" y="2683139"/>
                    <a:pt x="2169699" y="2692206"/>
                    <a:pt x="2163014" y="2698892"/>
                  </a:cubicBezTo>
                  <a:cubicBezTo>
                    <a:pt x="2156328" y="2705577"/>
                    <a:pt x="2147260" y="2709333"/>
                    <a:pt x="2137806" y="2709333"/>
                  </a:cubicBezTo>
                  <a:lnTo>
                    <a:pt x="35650" y="2709333"/>
                  </a:lnTo>
                  <a:cubicBezTo>
                    <a:pt x="15961" y="2709333"/>
                    <a:pt x="0" y="2693372"/>
                    <a:pt x="0" y="2673684"/>
                  </a:cubicBezTo>
                  <a:lnTo>
                    <a:pt x="0" y="35650"/>
                  </a:lnTo>
                  <a:cubicBezTo>
                    <a:pt x="0" y="26195"/>
                    <a:pt x="3756" y="17127"/>
                    <a:pt x="10442" y="10442"/>
                  </a:cubicBezTo>
                  <a:cubicBezTo>
                    <a:pt x="17127" y="3756"/>
                    <a:pt x="26195" y="0"/>
                    <a:pt x="35650" y="0"/>
                  </a:cubicBezTo>
                  <a:close/>
                </a:path>
              </a:pathLst>
            </a:custGeom>
            <a:solidFill>
              <a:srgbClr val="0A192F"/>
            </a:solidFill>
          </p:spPr>
        </p:sp>
        <p:sp>
          <p:nvSpPr>
            <p:cNvPr id="4" name="TextBox 4"/>
            <p:cNvSpPr txBox="1"/>
            <p:nvPr/>
          </p:nvSpPr>
          <p:spPr>
            <a:xfrm>
              <a:off x="0" y="-57150"/>
              <a:ext cx="2173455" cy="276648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338975" y="6935609"/>
            <a:ext cx="5025275" cy="4344738"/>
            <a:chOff x="0" y="0"/>
            <a:chExt cx="1323529" cy="1144293"/>
          </a:xfrm>
        </p:grpSpPr>
        <p:sp>
          <p:nvSpPr>
            <p:cNvPr id="6" name="Freeform 6"/>
            <p:cNvSpPr/>
            <p:nvPr/>
          </p:nvSpPr>
          <p:spPr>
            <a:xfrm>
              <a:off x="0" y="0"/>
              <a:ext cx="1323529" cy="1144293"/>
            </a:xfrm>
            <a:custGeom>
              <a:avLst/>
              <a:gdLst/>
              <a:ahLst/>
              <a:cxnLst/>
              <a:rect l="l" t="t" r="r" b="b"/>
              <a:pathLst>
                <a:path w="1323529" h="1144293">
                  <a:moveTo>
                    <a:pt x="57002" y="0"/>
                  </a:moveTo>
                  <a:lnTo>
                    <a:pt x="1266527" y="0"/>
                  </a:lnTo>
                  <a:cubicBezTo>
                    <a:pt x="1281645" y="0"/>
                    <a:pt x="1296144" y="6006"/>
                    <a:pt x="1306834" y="16696"/>
                  </a:cubicBezTo>
                  <a:cubicBezTo>
                    <a:pt x="1317524" y="27385"/>
                    <a:pt x="1323529" y="41884"/>
                    <a:pt x="1323529" y="57002"/>
                  </a:cubicBezTo>
                  <a:lnTo>
                    <a:pt x="1323529" y="1087291"/>
                  </a:lnTo>
                  <a:cubicBezTo>
                    <a:pt x="1323529" y="1102409"/>
                    <a:pt x="1317524" y="1116908"/>
                    <a:pt x="1306834" y="1127598"/>
                  </a:cubicBezTo>
                  <a:cubicBezTo>
                    <a:pt x="1296144" y="1138288"/>
                    <a:pt x="1281645" y="1144293"/>
                    <a:pt x="1266527" y="1144293"/>
                  </a:cubicBezTo>
                  <a:lnTo>
                    <a:pt x="57002" y="1144293"/>
                  </a:lnTo>
                  <a:cubicBezTo>
                    <a:pt x="41884" y="1144293"/>
                    <a:pt x="27385" y="1138288"/>
                    <a:pt x="16696" y="1127598"/>
                  </a:cubicBezTo>
                  <a:cubicBezTo>
                    <a:pt x="6006" y="1116908"/>
                    <a:pt x="0" y="1102409"/>
                    <a:pt x="0" y="1087291"/>
                  </a:cubicBezTo>
                  <a:lnTo>
                    <a:pt x="0" y="57002"/>
                  </a:lnTo>
                  <a:cubicBezTo>
                    <a:pt x="0" y="41884"/>
                    <a:pt x="6006" y="27385"/>
                    <a:pt x="16696" y="16696"/>
                  </a:cubicBezTo>
                  <a:cubicBezTo>
                    <a:pt x="27385" y="6006"/>
                    <a:pt x="41884" y="0"/>
                    <a:pt x="57002" y="0"/>
                  </a:cubicBezTo>
                  <a:close/>
                </a:path>
              </a:pathLst>
            </a:custGeom>
            <a:solidFill>
              <a:srgbClr val="000000">
                <a:alpha val="0"/>
              </a:srgbClr>
            </a:solidFill>
            <a:ln w="28575" cap="rnd">
              <a:solidFill>
                <a:srgbClr val="253439"/>
              </a:solidFill>
              <a:prstDash val="sysDot"/>
              <a:round/>
            </a:ln>
          </p:spPr>
        </p:sp>
        <p:sp>
          <p:nvSpPr>
            <p:cNvPr id="7" name="TextBox 7"/>
            <p:cNvSpPr txBox="1"/>
            <p:nvPr/>
          </p:nvSpPr>
          <p:spPr>
            <a:xfrm>
              <a:off x="0" y="-57150"/>
              <a:ext cx="1323529" cy="120144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8" name="Freeform 8"/>
          <p:cNvSpPr/>
          <p:nvPr/>
        </p:nvSpPr>
        <p:spPr>
          <a:xfrm>
            <a:off x="3898771" y="7340896"/>
            <a:ext cx="382242" cy="382242"/>
          </a:xfrm>
          <a:custGeom>
            <a:avLst/>
            <a:gdLst/>
            <a:ahLst/>
            <a:cxnLst/>
            <a:rect l="l" t="t" r="r" b="b"/>
            <a:pathLst>
              <a:path w="382242" h="382242">
                <a:moveTo>
                  <a:pt x="0" y="0"/>
                </a:moveTo>
                <a:lnTo>
                  <a:pt x="382242" y="0"/>
                </a:lnTo>
                <a:lnTo>
                  <a:pt x="382242" y="382243"/>
                </a:lnTo>
                <a:lnTo>
                  <a:pt x="0" y="382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723" y="5762838"/>
            <a:ext cx="7806988" cy="4524162"/>
          </a:xfrm>
          <a:custGeom>
            <a:avLst/>
            <a:gdLst/>
            <a:ahLst/>
            <a:cxnLst/>
            <a:rect l="l" t="t" r="r" b="b"/>
            <a:pathLst>
              <a:path w="7806988" h="4524162">
                <a:moveTo>
                  <a:pt x="0" y="0"/>
                </a:moveTo>
                <a:lnTo>
                  <a:pt x="7806988" y="0"/>
                </a:lnTo>
                <a:lnTo>
                  <a:pt x="7806988" y="4524162"/>
                </a:lnTo>
                <a:lnTo>
                  <a:pt x="0" y="4524162"/>
                </a:lnTo>
                <a:lnTo>
                  <a:pt x="0" y="0"/>
                </a:lnTo>
                <a:close/>
              </a:path>
            </a:pathLst>
          </a:custGeom>
          <a:blipFill>
            <a:blip r:embed="rId4"/>
            <a:stretch>
              <a:fillRect l="-2168" r="-2168"/>
            </a:stretch>
          </a:blipFill>
        </p:spPr>
      </p:sp>
      <p:grpSp>
        <p:nvGrpSpPr>
          <p:cNvPr id="10" name="Group 10"/>
          <p:cNvGrpSpPr/>
          <p:nvPr/>
        </p:nvGrpSpPr>
        <p:grpSpPr>
          <a:xfrm>
            <a:off x="9296400" y="1562128"/>
            <a:ext cx="8324850" cy="1229983"/>
            <a:chOff x="0" y="0"/>
            <a:chExt cx="11099800" cy="1639977"/>
          </a:xfrm>
        </p:grpSpPr>
        <p:sp>
          <p:nvSpPr>
            <p:cNvPr id="11" name="TextBox 11"/>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الفكرة الأساسية</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2" name="TextBox 12"/>
            <p:cNvSpPr txBox="1"/>
            <p:nvPr/>
          </p:nvSpPr>
          <p:spPr>
            <a:xfrm>
              <a:off x="0" y="1146138"/>
              <a:ext cx="11099800" cy="493839"/>
            </a:xfrm>
            <a:prstGeom prst="rect">
              <a:avLst/>
            </a:prstGeom>
          </p:spPr>
          <p:txBody>
            <a:bodyPr lIns="0" tIns="0" rIns="0" bIns="0" rtlCol="0" anchor="t">
              <a:spAutoFit/>
            </a:bodyPr>
            <a:lstStyle/>
            <a:p>
              <a:pPr marL="0" lvl="0" indent="0" algn="r" rtl="1">
                <a:lnSpc>
                  <a:spcPts val="3079"/>
                </a:lnSpc>
                <a:spcBef>
                  <a:spcPct val="0"/>
                </a:spcBef>
              </a:pPr>
              <a:r>
                <a:rPr lang="ar-LY" sz="2400" b="0" i="0" dirty="0">
                  <a:solidFill>
                    <a:srgbClr val="C6D8F1"/>
                  </a:solidFill>
                  <a:effectLst/>
                  <a:latin typeface="Segoe UI" panose="020B0502040204020203" pitchFamily="34" charset="0"/>
                  <a:cs typeface="Segoe UI" panose="020B0502040204020203" pitchFamily="34" charset="0"/>
                </a:rPr>
                <a:t>إنشاء كائنات جديدة عن طريق استنساخ نماذج أولية موجودة</a:t>
              </a:r>
              <a:endParaRPr lang="ar-EG" sz="2199" u="none" strike="noStrike" spc="-54" dirty="0">
                <a:solidFill>
                  <a:srgbClr val="C6D8F1"/>
                </a:solidFill>
                <a:latin typeface="Segoe UI" panose="020B0502040204020203" pitchFamily="34" charset="0"/>
                <a:ea typeface="Barlow"/>
                <a:cs typeface="Segoe UI" panose="020B0502040204020203" pitchFamily="34" charset="0"/>
                <a:sym typeface="Barlow"/>
                <a:rtl/>
              </a:endParaRPr>
            </a:p>
          </p:txBody>
        </p:sp>
      </p:grpSp>
      <p:grpSp>
        <p:nvGrpSpPr>
          <p:cNvPr id="13" name="Group 13"/>
          <p:cNvGrpSpPr/>
          <p:nvPr/>
        </p:nvGrpSpPr>
        <p:grpSpPr>
          <a:xfrm>
            <a:off x="9296400" y="3714556"/>
            <a:ext cx="8324850" cy="2744708"/>
            <a:chOff x="0" y="-57150"/>
            <a:chExt cx="11099800" cy="3659610"/>
          </a:xfrm>
        </p:grpSpPr>
        <p:sp>
          <p:nvSpPr>
            <p:cNvPr id="14" name="TextBox 14"/>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التطبيق في المشروع</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5" name="TextBox 15"/>
            <p:cNvSpPr txBox="1"/>
            <p:nvPr/>
          </p:nvSpPr>
          <p:spPr>
            <a:xfrm>
              <a:off x="0" y="1140248"/>
              <a:ext cx="11099800" cy="2462212"/>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الفئة المجردة </a:t>
              </a:r>
              <a:r>
                <a:rPr lang="en-US" sz="2400" b="0" i="0" dirty="0" err="1">
                  <a:solidFill>
                    <a:srgbClr val="C6D8F1"/>
                  </a:solidFill>
                  <a:effectLst/>
                  <a:latin typeface="Segoe UI" panose="020B0502040204020203" pitchFamily="34" charset="0"/>
                  <a:cs typeface="Segoe UI" panose="020B0502040204020203" pitchFamily="34" charset="0"/>
                </a:rPr>
                <a:t>EncoderPrototype</a:t>
              </a:r>
              <a:endParaRPr lang="en-US"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النماذج الأولية:</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en-US" sz="2400" b="0" i="0" dirty="0" err="1">
                  <a:solidFill>
                    <a:srgbClr val="C6D8F1"/>
                  </a:solidFill>
                  <a:effectLst/>
                  <a:latin typeface="Segoe UI" panose="020B0502040204020203" pitchFamily="34" charset="0"/>
                  <a:cs typeface="Segoe UI" panose="020B0502040204020203" pitchFamily="34" charset="0"/>
                </a:rPr>
                <a:t>MorseEncoder</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en-US" sz="2400" b="0" i="0" dirty="0" err="1">
                  <a:solidFill>
                    <a:srgbClr val="C6D8F1"/>
                  </a:solidFill>
                  <a:effectLst/>
                  <a:latin typeface="Segoe UI" panose="020B0502040204020203" pitchFamily="34" charset="0"/>
                  <a:cs typeface="Segoe UI" panose="020B0502040204020203" pitchFamily="34" charset="0"/>
                </a:rPr>
                <a:t>BrailleEncoder</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en-US" sz="2400" b="0" i="0" dirty="0" err="1">
                  <a:solidFill>
                    <a:srgbClr val="C6D8F1"/>
                  </a:solidFill>
                  <a:effectLst/>
                  <a:latin typeface="Segoe UI" panose="020B0502040204020203" pitchFamily="34" charset="0"/>
                  <a:cs typeface="Segoe UI" panose="020B0502040204020203" pitchFamily="34" charset="0"/>
                </a:rPr>
                <a:t>SecretEncoder</a:t>
              </a:r>
              <a:endParaRPr lang="ar-LY" sz="2400" dirty="0">
                <a:solidFill>
                  <a:srgbClr val="C6D8F1"/>
                </a:solidFill>
                <a:latin typeface="Segoe UI" panose="020B0502040204020203" pitchFamily="34" charset="0"/>
                <a:cs typeface="Segoe UI" panose="020B0502040204020203" pitchFamily="34" charset="0"/>
              </a:endParaRPr>
            </a:p>
          </p:txBody>
        </p:sp>
      </p:grpSp>
      <p:grpSp>
        <p:nvGrpSpPr>
          <p:cNvPr id="16" name="Group 16"/>
          <p:cNvGrpSpPr/>
          <p:nvPr/>
        </p:nvGrpSpPr>
        <p:grpSpPr>
          <a:xfrm>
            <a:off x="9296400" y="7298033"/>
            <a:ext cx="8324850" cy="2010463"/>
            <a:chOff x="0" y="-57150"/>
            <a:chExt cx="11099800" cy="2680617"/>
          </a:xfrm>
        </p:grpSpPr>
        <p:sp>
          <p:nvSpPr>
            <p:cNvPr id="17" name="TextBox 17"/>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المزايا</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8" name="TextBox 18"/>
            <p:cNvSpPr txBox="1"/>
            <p:nvPr/>
          </p:nvSpPr>
          <p:spPr>
            <a:xfrm>
              <a:off x="0" y="1146139"/>
              <a:ext cx="11099800" cy="1477328"/>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تقليل تكاليف إنشاء الكائنات</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الحفاظ على أداء النظام</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سهولة إضافة مشفرات جديدة</a:t>
              </a:r>
              <a:endParaRPr lang="ar-LY" sz="2400" dirty="0">
                <a:solidFill>
                  <a:srgbClr val="C6D8F1"/>
                </a:solidFill>
                <a:latin typeface="Segoe UI" panose="020B0502040204020203" pitchFamily="34" charset="0"/>
                <a:cs typeface="Segoe UI" panose="020B0502040204020203" pitchFamily="34" charset="0"/>
              </a:endParaRPr>
            </a:p>
          </p:txBody>
        </p:sp>
      </p:grpSp>
      <p:sp>
        <p:nvSpPr>
          <p:cNvPr id="19" name="TextBox 19"/>
          <p:cNvSpPr txBox="1"/>
          <p:nvPr/>
        </p:nvSpPr>
        <p:spPr>
          <a:xfrm>
            <a:off x="666750" y="1666875"/>
            <a:ext cx="6886575" cy="1937385"/>
          </a:xfrm>
          <a:prstGeom prst="rect">
            <a:avLst/>
          </a:prstGeom>
        </p:spPr>
        <p:txBody>
          <a:bodyPr lIns="0" tIns="0" rIns="0" bIns="0" rtlCol="0" anchor="t">
            <a:spAutoFit/>
          </a:bodyPr>
          <a:lstStyle/>
          <a:p>
            <a:pPr marL="0" lvl="0" indent="0" algn="l">
              <a:lnSpc>
                <a:spcPts val="7560"/>
              </a:lnSpc>
              <a:spcBef>
                <a:spcPct val="0"/>
              </a:spcBef>
            </a:pPr>
            <a:r>
              <a:rPr lang="en-US" sz="7200" spc="-180">
                <a:solidFill>
                  <a:srgbClr val="56A5E4"/>
                </a:solidFill>
                <a:latin typeface="Barlow"/>
                <a:ea typeface="Barlow"/>
                <a:cs typeface="Barlow"/>
                <a:sym typeface="Barlow"/>
              </a:rPr>
              <a:t> P</a:t>
            </a:r>
            <a:r>
              <a:rPr lang="en-US" sz="7200" u="none" strike="noStrike" spc="-180">
                <a:solidFill>
                  <a:srgbClr val="56A5E4"/>
                </a:solidFill>
                <a:latin typeface="Barlow"/>
                <a:ea typeface="Barlow"/>
                <a:cs typeface="Barlow"/>
                <a:sym typeface="Barlow"/>
              </a:rPr>
              <a:t>rototype</a:t>
            </a:r>
          </a:p>
          <a:p>
            <a:pPr marL="0" lvl="0" indent="0" algn="l">
              <a:lnSpc>
                <a:spcPts val="7560"/>
              </a:lnSpc>
              <a:spcBef>
                <a:spcPct val="0"/>
              </a:spcBef>
            </a:pPr>
            <a:endParaRPr lang="en-US" sz="7200" u="none" strike="noStrike" spc="-180">
              <a:solidFill>
                <a:srgbClr val="56A5E4"/>
              </a:solidFill>
              <a:latin typeface="Barlow"/>
              <a:ea typeface="Barlow"/>
              <a:cs typeface="Barlow"/>
              <a:sym typeface="Barlow"/>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394212" y="684081"/>
            <a:ext cx="8252337" cy="10287000"/>
            <a:chOff x="0" y="0"/>
            <a:chExt cx="2173455" cy="2709333"/>
          </a:xfrm>
        </p:grpSpPr>
        <p:sp>
          <p:nvSpPr>
            <p:cNvPr id="3" name="Freeform 3"/>
            <p:cNvSpPr/>
            <p:nvPr/>
          </p:nvSpPr>
          <p:spPr>
            <a:xfrm>
              <a:off x="0" y="0"/>
              <a:ext cx="2173455" cy="2709333"/>
            </a:xfrm>
            <a:custGeom>
              <a:avLst/>
              <a:gdLst/>
              <a:ahLst/>
              <a:cxnLst/>
              <a:rect l="l" t="t" r="r" b="b"/>
              <a:pathLst>
                <a:path w="2173455" h="2709333">
                  <a:moveTo>
                    <a:pt x="35650" y="0"/>
                  </a:moveTo>
                  <a:lnTo>
                    <a:pt x="2137806" y="0"/>
                  </a:lnTo>
                  <a:cubicBezTo>
                    <a:pt x="2157494" y="0"/>
                    <a:pt x="2173455" y="15961"/>
                    <a:pt x="2173455" y="35650"/>
                  </a:cubicBezTo>
                  <a:lnTo>
                    <a:pt x="2173455" y="2673684"/>
                  </a:lnTo>
                  <a:cubicBezTo>
                    <a:pt x="2173455" y="2683139"/>
                    <a:pt x="2169699" y="2692206"/>
                    <a:pt x="2163014" y="2698892"/>
                  </a:cubicBezTo>
                  <a:cubicBezTo>
                    <a:pt x="2156328" y="2705577"/>
                    <a:pt x="2147260" y="2709333"/>
                    <a:pt x="2137806" y="2709333"/>
                  </a:cubicBezTo>
                  <a:lnTo>
                    <a:pt x="35650" y="2709333"/>
                  </a:lnTo>
                  <a:cubicBezTo>
                    <a:pt x="15961" y="2709333"/>
                    <a:pt x="0" y="2693372"/>
                    <a:pt x="0" y="2673684"/>
                  </a:cubicBezTo>
                  <a:lnTo>
                    <a:pt x="0" y="35650"/>
                  </a:lnTo>
                  <a:cubicBezTo>
                    <a:pt x="0" y="26195"/>
                    <a:pt x="3756" y="17127"/>
                    <a:pt x="10442" y="10442"/>
                  </a:cubicBezTo>
                  <a:cubicBezTo>
                    <a:pt x="17127" y="3756"/>
                    <a:pt x="26195" y="0"/>
                    <a:pt x="35650" y="0"/>
                  </a:cubicBezTo>
                  <a:close/>
                </a:path>
              </a:pathLst>
            </a:custGeom>
            <a:solidFill>
              <a:srgbClr val="1F4E79"/>
            </a:solidFill>
          </p:spPr>
        </p:sp>
        <p:sp>
          <p:nvSpPr>
            <p:cNvPr id="4" name="TextBox 4"/>
            <p:cNvSpPr txBox="1"/>
            <p:nvPr/>
          </p:nvSpPr>
          <p:spPr>
            <a:xfrm>
              <a:off x="0" y="-57150"/>
              <a:ext cx="2173455" cy="276648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338975" y="6935609"/>
            <a:ext cx="5025275" cy="4344738"/>
            <a:chOff x="0" y="0"/>
            <a:chExt cx="1323529" cy="1144293"/>
          </a:xfrm>
        </p:grpSpPr>
        <p:sp>
          <p:nvSpPr>
            <p:cNvPr id="6" name="Freeform 6"/>
            <p:cNvSpPr/>
            <p:nvPr/>
          </p:nvSpPr>
          <p:spPr>
            <a:xfrm>
              <a:off x="0" y="0"/>
              <a:ext cx="1323529" cy="1144293"/>
            </a:xfrm>
            <a:custGeom>
              <a:avLst/>
              <a:gdLst/>
              <a:ahLst/>
              <a:cxnLst/>
              <a:rect l="l" t="t" r="r" b="b"/>
              <a:pathLst>
                <a:path w="1323529" h="1144293">
                  <a:moveTo>
                    <a:pt x="57002" y="0"/>
                  </a:moveTo>
                  <a:lnTo>
                    <a:pt x="1266527" y="0"/>
                  </a:lnTo>
                  <a:cubicBezTo>
                    <a:pt x="1281645" y="0"/>
                    <a:pt x="1296144" y="6006"/>
                    <a:pt x="1306834" y="16696"/>
                  </a:cubicBezTo>
                  <a:cubicBezTo>
                    <a:pt x="1317524" y="27385"/>
                    <a:pt x="1323529" y="41884"/>
                    <a:pt x="1323529" y="57002"/>
                  </a:cubicBezTo>
                  <a:lnTo>
                    <a:pt x="1323529" y="1087291"/>
                  </a:lnTo>
                  <a:cubicBezTo>
                    <a:pt x="1323529" y="1102409"/>
                    <a:pt x="1317524" y="1116908"/>
                    <a:pt x="1306834" y="1127598"/>
                  </a:cubicBezTo>
                  <a:cubicBezTo>
                    <a:pt x="1296144" y="1138288"/>
                    <a:pt x="1281645" y="1144293"/>
                    <a:pt x="1266527" y="1144293"/>
                  </a:cubicBezTo>
                  <a:lnTo>
                    <a:pt x="57002" y="1144293"/>
                  </a:lnTo>
                  <a:cubicBezTo>
                    <a:pt x="41884" y="1144293"/>
                    <a:pt x="27385" y="1138288"/>
                    <a:pt x="16696" y="1127598"/>
                  </a:cubicBezTo>
                  <a:cubicBezTo>
                    <a:pt x="6006" y="1116908"/>
                    <a:pt x="0" y="1102409"/>
                    <a:pt x="0" y="1087291"/>
                  </a:cubicBezTo>
                  <a:lnTo>
                    <a:pt x="0" y="57002"/>
                  </a:lnTo>
                  <a:cubicBezTo>
                    <a:pt x="0" y="41884"/>
                    <a:pt x="6006" y="27385"/>
                    <a:pt x="16696" y="16696"/>
                  </a:cubicBezTo>
                  <a:cubicBezTo>
                    <a:pt x="27385" y="6006"/>
                    <a:pt x="41884" y="0"/>
                    <a:pt x="57002" y="0"/>
                  </a:cubicBezTo>
                  <a:close/>
                </a:path>
              </a:pathLst>
            </a:custGeom>
            <a:solidFill>
              <a:srgbClr val="000000">
                <a:alpha val="0"/>
              </a:srgbClr>
            </a:solidFill>
            <a:ln w="28575" cap="rnd">
              <a:solidFill>
                <a:srgbClr val="253439"/>
              </a:solidFill>
              <a:prstDash val="sysDot"/>
              <a:round/>
            </a:ln>
          </p:spPr>
        </p:sp>
        <p:sp>
          <p:nvSpPr>
            <p:cNvPr id="7" name="TextBox 7"/>
            <p:cNvSpPr txBox="1"/>
            <p:nvPr/>
          </p:nvSpPr>
          <p:spPr>
            <a:xfrm>
              <a:off x="0" y="-57150"/>
              <a:ext cx="1323529" cy="120144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8" name="Freeform 8"/>
          <p:cNvSpPr/>
          <p:nvPr/>
        </p:nvSpPr>
        <p:spPr>
          <a:xfrm>
            <a:off x="3898771" y="7340896"/>
            <a:ext cx="382242" cy="382242"/>
          </a:xfrm>
          <a:custGeom>
            <a:avLst/>
            <a:gdLst/>
            <a:ahLst/>
            <a:cxnLst/>
            <a:rect l="l" t="t" r="r" b="b"/>
            <a:pathLst>
              <a:path w="382242" h="382242">
                <a:moveTo>
                  <a:pt x="0" y="0"/>
                </a:moveTo>
                <a:lnTo>
                  <a:pt x="382242" y="0"/>
                </a:lnTo>
                <a:lnTo>
                  <a:pt x="382242" y="382243"/>
                </a:lnTo>
                <a:lnTo>
                  <a:pt x="0" y="382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175" y="3839607"/>
            <a:ext cx="7892300" cy="6447393"/>
          </a:xfrm>
          <a:custGeom>
            <a:avLst/>
            <a:gdLst/>
            <a:ahLst/>
            <a:cxnLst/>
            <a:rect l="l" t="t" r="r" b="b"/>
            <a:pathLst>
              <a:path w="7892300" h="6447393">
                <a:moveTo>
                  <a:pt x="0" y="0"/>
                </a:moveTo>
                <a:lnTo>
                  <a:pt x="7892300" y="0"/>
                </a:lnTo>
                <a:lnTo>
                  <a:pt x="7892300" y="6447393"/>
                </a:lnTo>
                <a:lnTo>
                  <a:pt x="0" y="6447393"/>
                </a:lnTo>
                <a:lnTo>
                  <a:pt x="0" y="0"/>
                </a:lnTo>
                <a:close/>
              </a:path>
            </a:pathLst>
          </a:custGeom>
          <a:blipFill>
            <a:blip r:embed="rId4"/>
            <a:stretch>
              <a:fillRect t="-4913" b="-3988"/>
            </a:stretch>
          </a:blipFill>
        </p:spPr>
      </p:sp>
      <p:grpSp>
        <p:nvGrpSpPr>
          <p:cNvPr id="10" name="Group 10"/>
          <p:cNvGrpSpPr/>
          <p:nvPr/>
        </p:nvGrpSpPr>
        <p:grpSpPr>
          <a:xfrm>
            <a:off x="9296400" y="1562128"/>
            <a:ext cx="8324850" cy="1221553"/>
            <a:chOff x="0" y="0"/>
            <a:chExt cx="11099800" cy="1628738"/>
          </a:xfrm>
        </p:grpSpPr>
        <p:sp>
          <p:nvSpPr>
            <p:cNvPr id="11" name="TextBox 11"/>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الفكرة الأساسية</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2" name="TextBox 12"/>
            <p:cNvSpPr txBox="1"/>
            <p:nvPr/>
          </p:nvSpPr>
          <p:spPr>
            <a:xfrm>
              <a:off x="0" y="1146138"/>
              <a:ext cx="11099800" cy="482600"/>
            </a:xfrm>
            <a:prstGeom prst="rect">
              <a:avLst/>
            </a:prstGeom>
          </p:spPr>
          <p:txBody>
            <a:bodyPr lIns="0" tIns="0" rIns="0" bIns="0" rtlCol="0" anchor="t">
              <a:spAutoFit/>
            </a:bodyPr>
            <a:lstStyle/>
            <a:p>
              <a:pPr marL="0" lvl="0" indent="0" algn="r" rtl="1">
                <a:lnSpc>
                  <a:spcPts val="3018"/>
                </a:lnSpc>
                <a:spcBef>
                  <a:spcPct val="0"/>
                </a:spcBef>
              </a:pPr>
              <a:r>
                <a:rPr lang="ar-LY" sz="2400" b="0" i="0" dirty="0">
                  <a:solidFill>
                    <a:srgbClr val="C6D8F1"/>
                  </a:solidFill>
                  <a:effectLst/>
                  <a:latin typeface="Segoe UI" panose="020B0502040204020203" pitchFamily="34" charset="0"/>
                  <a:cs typeface="Segoe UI" panose="020B0502040204020203" pitchFamily="34" charset="0"/>
                </a:rPr>
                <a:t>وضع طبقة وسيطة للتحكم في الوصول إلى الكائنات الحقيقية</a:t>
              </a:r>
              <a:endParaRPr lang="ar-EG" sz="2156" u="none" strike="noStrike" spc="-53" dirty="0">
                <a:solidFill>
                  <a:srgbClr val="C6D8F1"/>
                </a:solidFill>
                <a:latin typeface="Segoe UI" panose="020B0502040204020203" pitchFamily="34" charset="0"/>
                <a:ea typeface="Barlow"/>
                <a:cs typeface="Segoe UI" panose="020B0502040204020203" pitchFamily="34" charset="0"/>
                <a:sym typeface="Barlow"/>
                <a:rtl/>
              </a:endParaRPr>
            </a:p>
          </p:txBody>
        </p:sp>
      </p:grpSp>
      <p:grpSp>
        <p:nvGrpSpPr>
          <p:cNvPr id="13" name="Group 13"/>
          <p:cNvGrpSpPr/>
          <p:nvPr/>
        </p:nvGrpSpPr>
        <p:grpSpPr>
          <a:xfrm>
            <a:off x="9296400" y="3539569"/>
            <a:ext cx="8324850" cy="2744707"/>
            <a:chOff x="0" y="-57150"/>
            <a:chExt cx="11099800" cy="3659609"/>
          </a:xfrm>
        </p:grpSpPr>
        <p:sp>
          <p:nvSpPr>
            <p:cNvPr id="14" name="TextBox 14"/>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التطبيق في المشروع</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5" name="TextBox 15"/>
            <p:cNvSpPr txBox="1"/>
            <p:nvPr/>
          </p:nvSpPr>
          <p:spPr>
            <a:xfrm>
              <a:off x="0" y="1140248"/>
              <a:ext cx="11099800" cy="2462211"/>
            </a:xfrm>
            <a:prstGeom prst="rect">
              <a:avLst/>
            </a:prstGeom>
          </p:spPr>
          <p:txBody>
            <a:bodyPr lIns="0" tIns="0" rIns="0" bIns="0" rtlCol="0" anchor="t">
              <a:spAutoFit/>
            </a:bodyPr>
            <a:lstStyle/>
            <a:p>
              <a:pPr marL="342900" indent="-342900" algn="r" rtl="1">
                <a:buFont typeface="Arial" panose="020B0604020202020204" pitchFamily="34" charset="0"/>
                <a:buChar char="•"/>
              </a:pPr>
              <a:r>
                <a:rPr lang="en-US" sz="2400" b="0" i="0" dirty="0" err="1">
                  <a:solidFill>
                    <a:srgbClr val="C6D8F1"/>
                  </a:solidFill>
                  <a:effectLst/>
                  <a:latin typeface="Segoe UI" panose="020B0502040204020203" pitchFamily="34" charset="0"/>
                  <a:cs typeface="Segoe UI" panose="020B0502040204020203" pitchFamily="34" charset="0"/>
                </a:rPr>
                <a:t>EncoderProxy</a:t>
              </a:r>
              <a:endParaRPr lang="en-US"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التحقق من الصلاحيات:</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المستخدم "طالب": لا يصلح للرموز السرية</a:t>
              </a:r>
              <a:endParaRPr lang="ar-LY" sz="2400" dirty="0">
                <a:solidFill>
                  <a:srgbClr val="C6D8F1"/>
                </a:solidFill>
                <a:latin typeface="Segoe UI" panose="020B0502040204020203" pitchFamily="34" charset="0"/>
                <a:cs typeface="Segoe UI" panose="020B0502040204020203" pitchFamily="34" charset="0"/>
              </a:endParaRPr>
            </a:p>
            <a:p>
              <a:pPr marL="742950" lvl="1" indent="-28575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المستخدم "باحث": يصلح لجميع الأنظمة</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رسائل منبثقة عند رفض الوصول</a:t>
              </a:r>
              <a:endParaRPr lang="ar-LY" sz="2400" dirty="0">
                <a:solidFill>
                  <a:srgbClr val="C6D8F1"/>
                </a:solidFill>
                <a:latin typeface="Segoe UI" panose="020B0502040204020203" pitchFamily="34" charset="0"/>
                <a:cs typeface="Segoe UI" panose="020B0502040204020203" pitchFamily="34" charset="0"/>
              </a:endParaRPr>
            </a:p>
          </p:txBody>
        </p:sp>
      </p:grpSp>
      <p:grpSp>
        <p:nvGrpSpPr>
          <p:cNvPr id="16" name="Group 16"/>
          <p:cNvGrpSpPr/>
          <p:nvPr/>
        </p:nvGrpSpPr>
        <p:grpSpPr>
          <a:xfrm>
            <a:off x="9296400" y="6891366"/>
            <a:ext cx="8324850" cy="2010462"/>
            <a:chOff x="0" y="-57150"/>
            <a:chExt cx="11099800" cy="2680616"/>
          </a:xfrm>
        </p:grpSpPr>
        <p:sp>
          <p:nvSpPr>
            <p:cNvPr id="17" name="TextBox 17"/>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المزايا</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8" name="TextBox 18"/>
            <p:cNvSpPr txBox="1"/>
            <p:nvPr/>
          </p:nvSpPr>
          <p:spPr>
            <a:xfrm>
              <a:off x="0" y="1146138"/>
              <a:ext cx="11099800" cy="1477328"/>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فصل منطق الأمان عن منطق الأعمال</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سهولة تعديل قواعد الوصول</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حماية النظام من الاستخدام غير المصرح</a:t>
              </a:r>
              <a:endParaRPr lang="ar-LY" sz="2400" dirty="0">
                <a:solidFill>
                  <a:srgbClr val="C6D8F1"/>
                </a:solidFill>
                <a:latin typeface="Segoe UI" panose="020B0502040204020203" pitchFamily="34" charset="0"/>
                <a:cs typeface="Segoe UI" panose="020B0502040204020203" pitchFamily="34" charset="0"/>
              </a:endParaRPr>
            </a:p>
          </p:txBody>
        </p:sp>
      </p:grpSp>
      <p:sp>
        <p:nvSpPr>
          <p:cNvPr id="19" name="TextBox 19"/>
          <p:cNvSpPr txBox="1"/>
          <p:nvPr/>
        </p:nvSpPr>
        <p:spPr>
          <a:xfrm>
            <a:off x="666750" y="1666875"/>
            <a:ext cx="6886575" cy="984885"/>
          </a:xfrm>
          <a:prstGeom prst="rect">
            <a:avLst/>
          </a:prstGeom>
        </p:spPr>
        <p:txBody>
          <a:bodyPr lIns="0" tIns="0" rIns="0" bIns="0" rtlCol="0" anchor="t">
            <a:spAutoFit/>
          </a:bodyPr>
          <a:lstStyle/>
          <a:p>
            <a:pPr marL="0" lvl="0" indent="0" algn="l">
              <a:lnSpc>
                <a:spcPts val="7560"/>
              </a:lnSpc>
              <a:spcBef>
                <a:spcPct val="0"/>
              </a:spcBef>
            </a:pPr>
            <a:r>
              <a:rPr lang="en-US" sz="7200" u="none" strike="noStrike" spc="-180">
                <a:solidFill>
                  <a:srgbClr val="56A5E4"/>
                </a:solidFill>
                <a:latin typeface="Barlow"/>
                <a:ea typeface="Barlow"/>
                <a:cs typeface="Barlow"/>
                <a:sym typeface="Barlow"/>
              </a:rPr>
              <a:t>Proxy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394212" y="684081"/>
            <a:ext cx="8252337" cy="10287000"/>
            <a:chOff x="0" y="0"/>
            <a:chExt cx="2173455" cy="2709333"/>
          </a:xfrm>
        </p:grpSpPr>
        <p:sp>
          <p:nvSpPr>
            <p:cNvPr id="3" name="Freeform 3"/>
            <p:cNvSpPr/>
            <p:nvPr/>
          </p:nvSpPr>
          <p:spPr>
            <a:xfrm>
              <a:off x="0" y="0"/>
              <a:ext cx="2173455" cy="2709333"/>
            </a:xfrm>
            <a:custGeom>
              <a:avLst/>
              <a:gdLst/>
              <a:ahLst/>
              <a:cxnLst/>
              <a:rect l="l" t="t" r="r" b="b"/>
              <a:pathLst>
                <a:path w="2173455" h="2709333">
                  <a:moveTo>
                    <a:pt x="35650" y="0"/>
                  </a:moveTo>
                  <a:lnTo>
                    <a:pt x="2137806" y="0"/>
                  </a:lnTo>
                  <a:cubicBezTo>
                    <a:pt x="2157494" y="0"/>
                    <a:pt x="2173455" y="15961"/>
                    <a:pt x="2173455" y="35650"/>
                  </a:cubicBezTo>
                  <a:lnTo>
                    <a:pt x="2173455" y="2673684"/>
                  </a:lnTo>
                  <a:cubicBezTo>
                    <a:pt x="2173455" y="2683139"/>
                    <a:pt x="2169699" y="2692206"/>
                    <a:pt x="2163014" y="2698892"/>
                  </a:cubicBezTo>
                  <a:cubicBezTo>
                    <a:pt x="2156328" y="2705577"/>
                    <a:pt x="2147260" y="2709333"/>
                    <a:pt x="2137806" y="2709333"/>
                  </a:cubicBezTo>
                  <a:lnTo>
                    <a:pt x="35650" y="2709333"/>
                  </a:lnTo>
                  <a:cubicBezTo>
                    <a:pt x="15961" y="2709333"/>
                    <a:pt x="0" y="2693372"/>
                    <a:pt x="0" y="2673684"/>
                  </a:cubicBezTo>
                  <a:lnTo>
                    <a:pt x="0" y="35650"/>
                  </a:lnTo>
                  <a:cubicBezTo>
                    <a:pt x="0" y="26195"/>
                    <a:pt x="3756" y="17127"/>
                    <a:pt x="10442" y="10442"/>
                  </a:cubicBezTo>
                  <a:cubicBezTo>
                    <a:pt x="17127" y="3756"/>
                    <a:pt x="26195" y="0"/>
                    <a:pt x="35650" y="0"/>
                  </a:cubicBezTo>
                  <a:close/>
                </a:path>
              </a:pathLst>
            </a:custGeom>
            <a:solidFill>
              <a:srgbClr val="1F4E79"/>
            </a:solidFill>
          </p:spPr>
        </p:sp>
        <p:sp>
          <p:nvSpPr>
            <p:cNvPr id="4" name="TextBox 4"/>
            <p:cNvSpPr txBox="1"/>
            <p:nvPr/>
          </p:nvSpPr>
          <p:spPr>
            <a:xfrm>
              <a:off x="0" y="-57150"/>
              <a:ext cx="2173455" cy="276648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338975" y="6935609"/>
            <a:ext cx="5025275" cy="4344738"/>
            <a:chOff x="0" y="0"/>
            <a:chExt cx="1323529" cy="1144293"/>
          </a:xfrm>
        </p:grpSpPr>
        <p:sp>
          <p:nvSpPr>
            <p:cNvPr id="6" name="Freeform 6"/>
            <p:cNvSpPr/>
            <p:nvPr/>
          </p:nvSpPr>
          <p:spPr>
            <a:xfrm>
              <a:off x="0" y="0"/>
              <a:ext cx="1323529" cy="1144293"/>
            </a:xfrm>
            <a:custGeom>
              <a:avLst/>
              <a:gdLst/>
              <a:ahLst/>
              <a:cxnLst/>
              <a:rect l="l" t="t" r="r" b="b"/>
              <a:pathLst>
                <a:path w="1323529" h="1144293">
                  <a:moveTo>
                    <a:pt x="57002" y="0"/>
                  </a:moveTo>
                  <a:lnTo>
                    <a:pt x="1266527" y="0"/>
                  </a:lnTo>
                  <a:cubicBezTo>
                    <a:pt x="1281645" y="0"/>
                    <a:pt x="1296144" y="6006"/>
                    <a:pt x="1306834" y="16696"/>
                  </a:cubicBezTo>
                  <a:cubicBezTo>
                    <a:pt x="1317524" y="27385"/>
                    <a:pt x="1323529" y="41884"/>
                    <a:pt x="1323529" y="57002"/>
                  </a:cubicBezTo>
                  <a:lnTo>
                    <a:pt x="1323529" y="1087291"/>
                  </a:lnTo>
                  <a:cubicBezTo>
                    <a:pt x="1323529" y="1102409"/>
                    <a:pt x="1317524" y="1116908"/>
                    <a:pt x="1306834" y="1127598"/>
                  </a:cubicBezTo>
                  <a:cubicBezTo>
                    <a:pt x="1296144" y="1138288"/>
                    <a:pt x="1281645" y="1144293"/>
                    <a:pt x="1266527" y="1144293"/>
                  </a:cubicBezTo>
                  <a:lnTo>
                    <a:pt x="57002" y="1144293"/>
                  </a:lnTo>
                  <a:cubicBezTo>
                    <a:pt x="41884" y="1144293"/>
                    <a:pt x="27385" y="1138288"/>
                    <a:pt x="16696" y="1127598"/>
                  </a:cubicBezTo>
                  <a:cubicBezTo>
                    <a:pt x="6006" y="1116908"/>
                    <a:pt x="0" y="1102409"/>
                    <a:pt x="0" y="1087291"/>
                  </a:cubicBezTo>
                  <a:lnTo>
                    <a:pt x="0" y="57002"/>
                  </a:lnTo>
                  <a:cubicBezTo>
                    <a:pt x="0" y="41884"/>
                    <a:pt x="6006" y="27385"/>
                    <a:pt x="16696" y="16696"/>
                  </a:cubicBezTo>
                  <a:cubicBezTo>
                    <a:pt x="27385" y="6006"/>
                    <a:pt x="41884" y="0"/>
                    <a:pt x="57002" y="0"/>
                  </a:cubicBezTo>
                  <a:close/>
                </a:path>
              </a:pathLst>
            </a:custGeom>
            <a:solidFill>
              <a:srgbClr val="000000">
                <a:alpha val="0"/>
              </a:srgbClr>
            </a:solidFill>
            <a:ln w="28575" cap="rnd">
              <a:solidFill>
                <a:srgbClr val="253439"/>
              </a:solidFill>
              <a:prstDash val="sysDot"/>
              <a:round/>
            </a:ln>
          </p:spPr>
        </p:sp>
        <p:sp>
          <p:nvSpPr>
            <p:cNvPr id="7" name="TextBox 7"/>
            <p:cNvSpPr txBox="1"/>
            <p:nvPr/>
          </p:nvSpPr>
          <p:spPr>
            <a:xfrm>
              <a:off x="0" y="-57150"/>
              <a:ext cx="1323529" cy="120144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8" name="Freeform 8"/>
          <p:cNvSpPr/>
          <p:nvPr/>
        </p:nvSpPr>
        <p:spPr>
          <a:xfrm>
            <a:off x="3898771" y="7340896"/>
            <a:ext cx="382242" cy="382242"/>
          </a:xfrm>
          <a:custGeom>
            <a:avLst/>
            <a:gdLst/>
            <a:ahLst/>
            <a:cxnLst/>
            <a:rect l="l" t="t" r="r" b="b"/>
            <a:pathLst>
              <a:path w="382242" h="382242">
                <a:moveTo>
                  <a:pt x="0" y="0"/>
                </a:moveTo>
                <a:lnTo>
                  <a:pt x="382242" y="0"/>
                </a:lnTo>
                <a:lnTo>
                  <a:pt x="382242" y="382243"/>
                </a:lnTo>
                <a:lnTo>
                  <a:pt x="0" y="382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0" y="5524500"/>
            <a:ext cx="7858125" cy="4762500"/>
          </a:xfrm>
          <a:custGeom>
            <a:avLst/>
            <a:gdLst/>
            <a:ahLst/>
            <a:cxnLst/>
            <a:rect l="l" t="t" r="r" b="b"/>
            <a:pathLst>
              <a:path w="7846411" h="4720924">
                <a:moveTo>
                  <a:pt x="0" y="0"/>
                </a:moveTo>
                <a:lnTo>
                  <a:pt x="7846411" y="0"/>
                </a:lnTo>
                <a:lnTo>
                  <a:pt x="7846411" y="4720924"/>
                </a:lnTo>
                <a:lnTo>
                  <a:pt x="0" y="4720924"/>
                </a:lnTo>
                <a:lnTo>
                  <a:pt x="0" y="0"/>
                </a:lnTo>
                <a:close/>
              </a:path>
            </a:pathLst>
          </a:custGeom>
          <a:blipFill>
            <a:blip r:embed="rId4"/>
            <a:stretch>
              <a:fillRect/>
            </a:stretch>
          </a:blipFill>
        </p:spPr>
      </p:sp>
      <p:grpSp>
        <p:nvGrpSpPr>
          <p:cNvPr id="10" name="Group 10"/>
          <p:cNvGrpSpPr/>
          <p:nvPr/>
        </p:nvGrpSpPr>
        <p:grpSpPr>
          <a:xfrm>
            <a:off x="9296400" y="1562128"/>
            <a:ext cx="8324850" cy="1221553"/>
            <a:chOff x="0" y="0"/>
            <a:chExt cx="11099800" cy="1628738"/>
          </a:xfrm>
        </p:grpSpPr>
        <p:sp>
          <p:nvSpPr>
            <p:cNvPr id="11" name="TextBox 11"/>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الفكرة الأساسية</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2" name="TextBox 12"/>
            <p:cNvSpPr txBox="1"/>
            <p:nvPr/>
          </p:nvSpPr>
          <p:spPr>
            <a:xfrm>
              <a:off x="0" y="1146138"/>
              <a:ext cx="11099800" cy="482600"/>
            </a:xfrm>
            <a:prstGeom prst="rect">
              <a:avLst/>
            </a:prstGeom>
          </p:spPr>
          <p:txBody>
            <a:bodyPr lIns="0" tIns="0" rIns="0" bIns="0" rtlCol="0" anchor="t">
              <a:spAutoFit/>
            </a:bodyPr>
            <a:lstStyle/>
            <a:p>
              <a:pPr marL="0" lvl="0" indent="0" algn="r" rtl="1">
                <a:lnSpc>
                  <a:spcPts val="3018"/>
                </a:lnSpc>
                <a:spcBef>
                  <a:spcPct val="0"/>
                </a:spcBef>
              </a:pPr>
              <a:r>
                <a:rPr lang="ar-LY" sz="2400" b="0" i="0" dirty="0">
                  <a:solidFill>
                    <a:srgbClr val="C6D8F1"/>
                  </a:solidFill>
                  <a:effectLst/>
                  <a:latin typeface="Segoe UI" panose="020B0502040204020203" pitchFamily="34" charset="0"/>
                  <a:cs typeface="Segoe UI" panose="020B0502040204020203" pitchFamily="34" charset="0"/>
                </a:rPr>
                <a:t>تغليف الخوارزميات المتعلقة بسلوك معين وجعلها قابلة للتبديل</a:t>
              </a:r>
              <a:endParaRPr lang="ar-EG" sz="2156" u="none" strike="noStrike" spc="-53" dirty="0">
                <a:solidFill>
                  <a:srgbClr val="C6D8F1"/>
                </a:solidFill>
                <a:latin typeface="Segoe UI" panose="020B0502040204020203" pitchFamily="34" charset="0"/>
                <a:ea typeface="Barlow"/>
                <a:cs typeface="Segoe UI" panose="020B0502040204020203" pitchFamily="34" charset="0"/>
                <a:sym typeface="Barlow"/>
                <a:rtl/>
              </a:endParaRPr>
            </a:p>
          </p:txBody>
        </p:sp>
      </p:grpSp>
      <p:grpSp>
        <p:nvGrpSpPr>
          <p:cNvPr id="13" name="Group 13"/>
          <p:cNvGrpSpPr/>
          <p:nvPr/>
        </p:nvGrpSpPr>
        <p:grpSpPr>
          <a:xfrm>
            <a:off x="9296400" y="3539569"/>
            <a:ext cx="8324850" cy="2744708"/>
            <a:chOff x="0" y="-57150"/>
            <a:chExt cx="11099800" cy="3659611"/>
          </a:xfrm>
        </p:grpSpPr>
        <p:sp>
          <p:nvSpPr>
            <p:cNvPr id="14" name="TextBox 14"/>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التطبيق في المشروع</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5" name="TextBox 15"/>
            <p:cNvSpPr txBox="1"/>
            <p:nvPr/>
          </p:nvSpPr>
          <p:spPr>
            <a:xfrm>
              <a:off x="0" y="1140249"/>
              <a:ext cx="11099800" cy="2462212"/>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الواجهة</a:t>
              </a:r>
              <a:r>
                <a:rPr lang="ar-EG" sz="2400" b="0" i="0" dirty="0">
                  <a:solidFill>
                    <a:srgbClr val="C6D8F1"/>
                  </a:solidFill>
                  <a:effectLst/>
                  <a:latin typeface="Segoe UI" panose="020B0502040204020203" pitchFamily="34" charset="0"/>
                  <a:cs typeface="Segoe UI" panose="020B0502040204020203" pitchFamily="34" charset="0"/>
                </a:rPr>
                <a:t> </a:t>
              </a:r>
              <a:r>
                <a:rPr lang="en-US" sz="2400" b="0" i="0" dirty="0" err="1">
                  <a:solidFill>
                    <a:srgbClr val="C6D8F1"/>
                  </a:solidFill>
                  <a:effectLst/>
                  <a:latin typeface="Segoe UI" panose="020B0502040204020203" pitchFamily="34" charset="0"/>
                  <a:cs typeface="Segoe UI" panose="020B0502040204020203" pitchFamily="34" charset="0"/>
                </a:rPr>
                <a:t>DisplayStrategy</a:t>
              </a:r>
              <a:endParaRPr lang="en-US"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الإستراتيجيات:</a:t>
              </a:r>
              <a:endParaRPr lang="ar-LY" sz="2400" dirty="0">
                <a:solidFill>
                  <a:srgbClr val="C6D8F1"/>
                </a:solidFill>
                <a:latin typeface="Segoe UI" panose="020B0502040204020203" pitchFamily="34" charset="0"/>
                <a:cs typeface="Segoe UI" panose="020B0502040204020203" pitchFamily="34" charset="0"/>
              </a:endParaRPr>
            </a:p>
            <a:p>
              <a:pPr marL="800100" lvl="1" indent="-342900" algn="r" rtl="1">
                <a:buFont typeface="Arial" panose="020B0604020202020204" pitchFamily="34" charset="0"/>
                <a:buChar char="•"/>
              </a:pPr>
              <a:r>
                <a:rPr lang="en-US" sz="2400" b="0" i="0" dirty="0">
                  <a:solidFill>
                    <a:srgbClr val="C6D8F1"/>
                  </a:solidFill>
                  <a:effectLst/>
                  <a:latin typeface="Segoe UI" panose="020B0502040204020203" pitchFamily="34" charset="0"/>
                  <a:cs typeface="Segoe UI" panose="020B0502040204020203" pitchFamily="34" charset="0"/>
                </a:rPr>
                <a:t> </a:t>
              </a:r>
              <a:r>
                <a:rPr lang="en-US" sz="2400" b="0" i="0" dirty="0" err="1">
                  <a:solidFill>
                    <a:srgbClr val="C6D8F1"/>
                  </a:solidFill>
                  <a:effectLst/>
                  <a:latin typeface="Segoe UI" panose="020B0502040204020203" pitchFamily="34" charset="0"/>
                  <a:cs typeface="Segoe UI" panose="020B0502040204020203" pitchFamily="34" charset="0"/>
                </a:rPr>
                <a:t>CompactStrategy</a:t>
              </a:r>
              <a:r>
                <a:rPr lang="en-US" sz="2400" b="0" i="0" dirty="0">
                  <a:solidFill>
                    <a:srgbClr val="C6D8F1"/>
                  </a:solidFill>
                  <a:effectLst/>
                  <a:latin typeface="Segoe UI" panose="020B0502040204020203" pitchFamily="34" charset="0"/>
                  <a:cs typeface="Segoe UI" panose="020B0502040204020203" pitchFamily="34" charset="0"/>
                </a:rPr>
                <a:t> </a:t>
              </a:r>
              <a:r>
                <a:rPr lang="ar-LY" sz="2400" b="0" i="0" dirty="0">
                  <a:solidFill>
                    <a:srgbClr val="C6D8F1"/>
                  </a:solidFill>
                  <a:effectLst/>
                  <a:latin typeface="Segoe UI" panose="020B0502040204020203" pitchFamily="34" charset="0"/>
                  <a:cs typeface="Segoe UI" panose="020B0502040204020203" pitchFamily="34" charset="0"/>
                </a:rPr>
                <a:t>عرض مختصر</a:t>
              </a:r>
              <a:endParaRPr lang="ar-LY" sz="2400" dirty="0">
                <a:solidFill>
                  <a:srgbClr val="C6D8F1"/>
                </a:solidFill>
                <a:latin typeface="Segoe UI" panose="020B0502040204020203" pitchFamily="34" charset="0"/>
                <a:cs typeface="Segoe UI" panose="020B0502040204020203" pitchFamily="34" charset="0"/>
              </a:endParaRPr>
            </a:p>
            <a:p>
              <a:pPr marL="800100" lvl="1" indent="-342900" algn="r" rtl="1">
                <a:buFont typeface="Arial" panose="020B0604020202020204" pitchFamily="34" charset="0"/>
                <a:buChar char="•"/>
              </a:pPr>
              <a:r>
                <a:rPr lang="en-US" sz="2400" b="0" i="0" dirty="0">
                  <a:solidFill>
                    <a:srgbClr val="C6D8F1"/>
                  </a:solidFill>
                  <a:effectLst/>
                  <a:latin typeface="Segoe UI" panose="020B0502040204020203" pitchFamily="34" charset="0"/>
                  <a:cs typeface="Segoe UI" panose="020B0502040204020203" pitchFamily="34" charset="0"/>
                </a:rPr>
                <a:t> </a:t>
              </a:r>
              <a:r>
                <a:rPr lang="en-US" sz="2400" b="0" i="0" dirty="0" err="1">
                  <a:solidFill>
                    <a:srgbClr val="C6D8F1"/>
                  </a:solidFill>
                  <a:effectLst/>
                  <a:latin typeface="Segoe UI" panose="020B0502040204020203" pitchFamily="34" charset="0"/>
                  <a:cs typeface="Segoe UI" panose="020B0502040204020203" pitchFamily="34" charset="0"/>
                </a:rPr>
                <a:t>VerboseStrategy</a:t>
              </a:r>
              <a:r>
                <a:rPr lang="en-US" sz="2400" b="0" i="0" dirty="0">
                  <a:solidFill>
                    <a:srgbClr val="C6D8F1"/>
                  </a:solidFill>
                  <a:effectLst/>
                  <a:latin typeface="Segoe UI" panose="020B0502040204020203" pitchFamily="34" charset="0"/>
                  <a:cs typeface="Segoe UI" panose="020B0502040204020203" pitchFamily="34" charset="0"/>
                </a:rPr>
                <a:t> </a:t>
              </a:r>
              <a:r>
                <a:rPr lang="ar-LY" sz="2400" b="0" i="0" dirty="0">
                  <a:solidFill>
                    <a:srgbClr val="C6D8F1"/>
                  </a:solidFill>
                  <a:effectLst/>
                  <a:latin typeface="Segoe UI" panose="020B0502040204020203" pitchFamily="34" charset="0"/>
                  <a:cs typeface="Segoe UI" panose="020B0502040204020203" pitchFamily="34" charset="0"/>
                </a:rPr>
                <a:t>عرض مفصل</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التبديل الديناميكي عبر واجهة المستخدم</a:t>
              </a:r>
              <a:endParaRPr lang="ar-LY" sz="2400" dirty="0">
                <a:solidFill>
                  <a:srgbClr val="C6D8F1"/>
                </a:solidFill>
                <a:latin typeface="Segoe UI" panose="020B0502040204020203" pitchFamily="34" charset="0"/>
                <a:cs typeface="Segoe UI" panose="020B0502040204020203" pitchFamily="34" charset="0"/>
              </a:endParaRPr>
            </a:p>
          </p:txBody>
        </p:sp>
      </p:grpSp>
      <p:grpSp>
        <p:nvGrpSpPr>
          <p:cNvPr id="16" name="Group 16"/>
          <p:cNvGrpSpPr/>
          <p:nvPr/>
        </p:nvGrpSpPr>
        <p:grpSpPr>
          <a:xfrm>
            <a:off x="9296400" y="6891366"/>
            <a:ext cx="8324850" cy="2010462"/>
            <a:chOff x="0" y="-57150"/>
            <a:chExt cx="11099800" cy="2680616"/>
          </a:xfrm>
        </p:grpSpPr>
        <p:sp>
          <p:nvSpPr>
            <p:cNvPr id="17" name="TextBox 17"/>
            <p:cNvSpPr txBox="1"/>
            <p:nvPr/>
          </p:nvSpPr>
          <p:spPr>
            <a:xfrm>
              <a:off x="0" y="-57150"/>
              <a:ext cx="11099800" cy="622723"/>
            </a:xfrm>
            <a:prstGeom prst="rect">
              <a:avLst/>
            </a:prstGeom>
          </p:spPr>
          <p:txBody>
            <a:bodyPr lIns="0" tIns="0" rIns="0" bIns="0" rtlCol="0" anchor="t">
              <a:spAutoFit/>
            </a:bodyPr>
            <a:lstStyle/>
            <a:p>
              <a:pPr marL="0" lvl="0" indent="0" algn="r" rtl="1">
                <a:lnSpc>
                  <a:spcPts val="3920"/>
                </a:lnSpc>
              </a:pPr>
              <a:r>
                <a:rPr lang="ar-LY" sz="2800" b="1" i="0" dirty="0">
                  <a:solidFill>
                    <a:srgbClr val="83B3E2"/>
                  </a:solidFill>
                  <a:effectLst/>
                  <a:latin typeface="Segoe UI" panose="020B0502040204020203" pitchFamily="34" charset="0"/>
                  <a:cs typeface="Segoe UI" panose="020B0502040204020203" pitchFamily="34" charset="0"/>
                </a:rPr>
                <a:t>المزايا</a:t>
              </a:r>
              <a:endParaRPr lang="ar-EG" sz="2800" b="1" spc="-7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8" name="TextBox 18"/>
            <p:cNvSpPr txBox="1"/>
            <p:nvPr/>
          </p:nvSpPr>
          <p:spPr>
            <a:xfrm>
              <a:off x="0" y="1146138"/>
              <a:ext cx="11099800" cy="1477328"/>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قابلية التوسع دون تعديل الكود الأساسي</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فصل مسؤولية العرض عن مسؤولية التشفير</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دعم أساليب عرض جديدة بسهولة</a:t>
              </a:r>
              <a:endParaRPr lang="ar-LY" sz="2400" dirty="0">
                <a:solidFill>
                  <a:srgbClr val="C6D8F1"/>
                </a:solidFill>
                <a:latin typeface="Segoe UI" panose="020B0502040204020203" pitchFamily="34" charset="0"/>
                <a:cs typeface="Segoe UI" panose="020B0502040204020203" pitchFamily="34" charset="0"/>
              </a:endParaRPr>
            </a:p>
          </p:txBody>
        </p:sp>
      </p:grpSp>
      <p:sp>
        <p:nvSpPr>
          <p:cNvPr id="19" name="TextBox 19"/>
          <p:cNvSpPr txBox="1"/>
          <p:nvPr/>
        </p:nvSpPr>
        <p:spPr>
          <a:xfrm>
            <a:off x="666750" y="1666875"/>
            <a:ext cx="6886575" cy="984885"/>
          </a:xfrm>
          <a:prstGeom prst="rect">
            <a:avLst/>
          </a:prstGeom>
        </p:spPr>
        <p:txBody>
          <a:bodyPr lIns="0" tIns="0" rIns="0" bIns="0" rtlCol="0" anchor="t">
            <a:spAutoFit/>
          </a:bodyPr>
          <a:lstStyle/>
          <a:p>
            <a:pPr marL="0" lvl="0" indent="0" algn="l">
              <a:lnSpc>
                <a:spcPts val="7560"/>
              </a:lnSpc>
              <a:spcBef>
                <a:spcPct val="0"/>
              </a:spcBef>
            </a:pPr>
            <a:r>
              <a:rPr lang="en-US" sz="7200" spc="-180">
                <a:solidFill>
                  <a:srgbClr val="56A5E4"/>
                </a:solidFill>
                <a:latin typeface="Barlow"/>
                <a:ea typeface="Barlow"/>
                <a:cs typeface="Barlow"/>
                <a:sym typeface="Barlow"/>
              </a:rPr>
              <a:t>St</a:t>
            </a:r>
            <a:r>
              <a:rPr lang="en-US" sz="7200" u="none" strike="noStrike" spc="-180">
                <a:solidFill>
                  <a:srgbClr val="56A5E4"/>
                </a:solidFill>
                <a:latin typeface="Barlow"/>
                <a:ea typeface="Barlow"/>
                <a:cs typeface="Barlow"/>
                <a:sym typeface="Barlow"/>
              </a:rPr>
              <a:t>rategy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272852" y="399011"/>
            <a:ext cx="7837607" cy="9488978"/>
            <a:chOff x="0" y="0"/>
            <a:chExt cx="2064226" cy="2499155"/>
          </a:xfrm>
        </p:grpSpPr>
        <p:sp>
          <p:nvSpPr>
            <p:cNvPr id="3" name="Freeform 3"/>
            <p:cNvSpPr/>
            <p:nvPr/>
          </p:nvSpPr>
          <p:spPr>
            <a:xfrm>
              <a:off x="0" y="0"/>
              <a:ext cx="2064226" cy="2499155"/>
            </a:xfrm>
            <a:custGeom>
              <a:avLst/>
              <a:gdLst/>
              <a:ahLst/>
              <a:cxnLst/>
              <a:rect l="l" t="t" r="r" b="b"/>
              <a:pathLst>
                <a:path w="2064226" h="2499155">
                  <a:moveTo>
                    <a:pt x="36548" y="0"/>
                  </a:moveTo>
                  <a:lnTo>
                    <a:pt x="2027677" y="0"/>
                  </a:lnTo>
                  <a:cubicBezTo>
                    <a:pt x="2037371" y="0"/>
                    <a:pt x="2046667" y="3851"/>
                    <a:pt x="2053521" y="10705"/>
                  </a:cubicBezTo>
                  <a:cubicBezTo>
                    <a:pt x="2060375" y="17559"/>
                    <a:pt x="2064226" y="26855"/>
                    <a:pt x="2064226" y="36548"/>
                  </a:cubicBezTo>
                  <a:lnTo>
                    <a:pt x="2064226" y="2462606"/>
                  </a:lnTo>
                  <a:cubicBezTo>
                    <a:pt x="2064226" y="2472300"/>
                    <a:pt x="2060375" y="2481596"/>
                    <a:pt x="2053521" y="2488450"/>
                  </a:cubicBezTo>
                  <a:cubicBezTo>
                    <a:pt x="2046667" y="2495304"/>
                    <a:pt x="2037371" y="2499155"/>
                    <a:pt x="2027677" y="2499155"/>
                  </a:cubicBezTo>
                  <a:lnTo>
                    <a:pt x="36548" y="2499155"/>
                  </a:lnTo>
                  <a:cubicBezTo>
                    <a:pt x="26855" y="2499155"/>
                    <a:pt x="17559" y="2495304"/>
                    <a:pt x="10705" y="2488450"/>
                  </a:cubicBezTo>
                  <a:cubicBezTo>
                    <a:pt x="3851" y="2481596"/>
                    <a:pt x="0" y="2472300"/>
                    <a:pt x="0" y="2462606"/>
                  </a:cubicBezTo>
                  <a:lnTo>
                    <a:pt x="0" y="36548"/>
                  </a:lnTo>
                  <a:cubicBezTo>
                    <a:pt x="0" y="26855"/>
                    <a:pt x="3851" y="17559"/>
                    <a:pt x="10705" y="10705"/>
                  </a:cubicBezTo>
                  <a:cubicBezTo>
                    <a:pt x="17559" y="3851"/>
                    <a:pt x="26855" y="0"/>
                    <a:pt x="36548" y="0"/>
                  </a:cubicBezTo>
                  <a:close/>
                </a:path>
              </a:pathLst>
            </a:custGeom>
            <a:solidFill>
              <a:srgbClr val="000000">
                <a:alpha val="0"/>
              </a:srgbClr>
            </a:solidFill>
            <a:ln w="28575" cap="rnd">
              <a:solidFill>
                <a:srgbClr val="253439"/>
              </a:solidFill>
              <a:prstDash val="sysDot"/>
              <a:round/>
            </a:ln>
          </p:spPr>
        </p:sp>
        <p:sp>
          <p:nvSpPr>
            <p:cNvPr id="4" name="TextBox 4"/>
            <p:cNvSpPr txBox="1"/>
            <p:nvPr/>
          </p:nvSpPr>
          <p:spPr>
            <a:xfrm>
              <a:off x="0" y="-38100"/>
              <a:ext cx="2064226" cy="2537255"/>
            </a:xfrm>
            <a:prstGeom prst="rect">
              <a:avLst/>
            </a:prstGeom>
          </p:spPr>
          <p:txBody>
            <a:bodyPr lIns="50800" tIns="50800" rIns="50800" bIns="50800" rtlCol="0" anchor="ctr"/>
            <a:lstStyle/>
            <a:p>
              <a:pPr marL="0" lvl="0" indent="0" algn="ctr">
                <a:lnSpc>
                  <a:spcPts val="3080"/>
                </a:lnSpc>
                <a:spcBef>
                  <a:spcPct val="0"/>
                </a:spcBef>
              </a:pPr>
              <a:endParaRPr/>
            </a:p>
          </p:txBody>
        </p:sp>
      </p:grpSp>
      <p:grpSp>
        <p:nvGrpSpPr>
          <p:cNvPr id="5" name="Group 5"/>
          <p:cNvGrpSpPr/>
          <p:nvPr/>
        </p:nvGrpSpPr>
        <p:grpSpPr>
          <a:xfrm>
            <a:off x="257175" y="1892234"/>
            <a:ext cx="9701369" cy="6502533"/>
            <a:chOff x="0" y="0"/>
            <a:chExt cx="1118455" cy="749666"/>
          </a:xfrm>
        </p:grpSpPr>
        <p:sp>
          <p:nvSpPr>
            <p:cNvPr id="6" name="Freeform 6"/>
            <p:cNvSpPr/>
            <p:nvPr/>
          </p:nvSpPr>
          <p:spPr>
            <a:xfrm>
              <a:off x="0" y="0"/>
              <a:ext cx="1118455" cy="749666"/>
            </a:xfrm>
            <a:custGeom>
              <a:avLst/>
              <a:gdLst/>
              <a:ahLst/>
              <a:cxnLst/>
              <a:rect l="l" t="t" r="r" b="b"/>
              <a:pathLst>
                <a:path w="1118455" h="749666">
                  <a:moveTo>
                    <a:pt x="19951" y="0"/>
                  </a:moveTo>
                  <a:lnTo>
                    <a:pt x="1098504" y="0"/>
                  </a:lnTo>
                  <a:cubicBezTo>
                    <a:pt x="1103796" y="0"/>
                    <a:pt x="1108870" y="2102"/>
                    <a:pt x="1112612" y="5843"/>
                  </a:cubicBezTo>
                  <a:cubicBezTo>
                    <a:pt x="1116353" y="9585"/>
                    <a:pt x="1118455" y="14659"/>
                    <a:pt x="1118455" y="19951"/>
                  </a:cubicBezTo>
                  <a:lnTo>
                    <a:pt x="1118455" y="729716"/>
                  </a:lnTo>
                  <a:cubicBezTo>
                    <a:pt x="1118455" y="735007"/>
                    <a:pt x="1116353" y="740082"/>
                    <a:pt x="1112612" y="743823"/>
                  </a:cubicBezTo>
                  <a:cubicBezTo>
                    <a:pt x="1108870" y="747564"/>
                    <a:pt x="1103796" y="749666"/>
                    <a:pt x="1098504" y="749666"/>
                  </a:cubicBezTo>
                  <a:lnTo>
                    <a:pt x="19951" y="749666"/>
                  </a:lnTo>
                  <a:cubicBezTo>
                    <a:pt x="14659" y="749666"/>
                    <a:pt x="9585" y="747564"/>
                    <a:pt x="5843" y="743823"/>
                  </a:cubicBezTo>
                  <a:cubicBezTo>
                    <a:pt x="2102" y="740082"/>
                    <a:pt x="0" y="735007"/>
                    <a:pt x="0" y="729716"/>
                  </a:cubicBezTo>
                  <a:lnTo>
                    <a:pt x="0" y="19951"/>
                  </a:lnTo>
                  <a:cubicBezTo>
                    <a:pt x="0" y="14659"/>
                    <a:pt x="2102" y="9585"/>
                    <a:pt x="5843" y="5843"/>
                  </a:cubicBezTo>
                  <a:cubicBezTo>
                    <a:pt x="9585" y="2102"/>
                    <a:pt x="14659" y="0"/>
                    <a:pt x="19951" y="0"/>
                  </a:cubicBezTo>
                  <a:close/>
                </a:path>
              </a:pathLst>
            </a:custGeom>
            <a:blipFill>
              <a:blip r:embed="rId2"/>
              <a:stretch>
                <a:fillRect t="-1565" b="-1565"/>
              </a:stretch>
            </a:blipFill>
          </p:spPr>
        </p:sp>
      </p:grpSp>
      <p:sp>
        <p:nvSpPr>
          <p:cNvPr id="7" name="Freeform 7"/>
          <p:cNvSpPr/>
          <p:nvPr/>
        </p:nvSpPr>
        <p:spPr>
          <a:xfrm>
            <a:off x="17259300" y="9238008"/>
            <a:ext cx="382242" cy="382242"/>
          </a:xfrm>
          <a:custGeom>
            <a:avLst/>
            <a:gdLst/>
            <a:ahLst/>
            <a:cxnLst/>
            <a:rect l="l" t="t" r="r" b="b"/>
            <a:pathLst>
              <a:path w="382242" h="382242">
                <a:moveTo>
                  <a:pt x="0" y="0"/>
                </a:moveTo>
                <a:lnTo>
                  <a:pt x="382242" y="0"/>
                </a:lnTo>
                <a:lnTo>
                  <a:pt x="382242" y="382242"/>
                </a:lnTo>
                <a:lnTo>
                  <a:pt x="0" y="3822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9296400" y="1640681"/>
            <a:ext cx="8324850" cy="4944401"/>
            <a:chOff x="0" y="104775"/>
            <a:chExt cx="11099800" cy="6592535"/>
          </a:xfrm>
        </p:grpSpPr>
        <p:sp>
          <p:nvSpPr>
            <p:cNvPr id="9" name="TextBox 9"/>
            <p:cNvSpPr txBox="1"/>
            <p:nvPr/>
          </p:nvSpPr>
          <p:spPr>
            <a:xfrm>
              <a:off x="0" y="104775"/>
              <a:ext cx="11099800" cy="2599003"/>
            </a:xfrm>
            <a:prstGeom prst="rect">
              <a:avLst/>
            </a:prstGeom>
          </p:spPr>
          <p:txBody>
            <a:bodyPr lIns="0" tIns="0" rIns="0" bIns="0" rtlCol="0" anchor="t">
              <a:spAutoFit/>
            </a:bodyPr>
            <a:lstStyle/>
            <a:p>
              <a:pPr marL="0" lvl="0" indent="0" algn="r" rtl="1">
                <a:lnSpc>
                  <a:spcPts val="7560"/>
                </a:lnSpc>
              </a:pPr>
              <a:r>
                <a:rPr lang="ar-LY" sz="7200" b="0" i="0" dirty="0">
                  <a:solidFill>
                    <a:srgbClr val="56A5E4"/>
                  </a:solidFill>
                  <a:effectLst/>
                  <a:latin typeface="Segoe UI" panose="020B0502040204020203" pitchFamily="34" charset="0"/>
                  <a:cs typeface="Segoe UI" panose="020B0502040204020203" pitchFamily="34" charset="0"/>
                </a:rPr>
                <a:t>التكامل بين الأنماط الثلاثة</a:t>
              </a:r>
              <a:endParaRPr lang="ar-EG" sz="7200" spc="-180" dirty="0">
                <a:solidFill>
                  <a:srgbClr val="56A5E4"/>
                </a:solidFill>
                <a:latin typeface="Segoe UI" panose="020B0502040204020203" pitchFamily="34" charset="0"/>
                <a:ea typeface="Barlow"/>
                <a:cs typeface="Segoe UI" panose="020B0502040204020203" pitchFamily="34" charset="0"/>
                <a:sym typeface="Barlow"/>
                <a:rtl/>
              </a:endParaRPr>
            </a:p>
          </p:txBody>
        </p:sp>
        <p:sp>
          <p:nvSpPr>
            <p:cNvPr id="10" name="TextBox 10"/>
            <p:cNvSpPr txBox="1"/>
            <p:nvPr/>
          </p:nvSpPr>
          <p:spPr>
            <a:xfrm>
              <a:off x="0" y="3524236"/>
              <a:ext cx="11099800" cy="698077"/>
            </a:xfrm>
            <a:prstGeom prst="rect">
              <a:avLst/>
            </a:prstGeom>
          </p:spPr>
          <p:txBody>
            <a:bodyPr lIns="0" tIns="0" rIns="0" bIns="0" rtlCol="0" anchor="t">
              <a:spAutoFit/>
            </a:bodyPr>
            <a:lstStyle/>
            <a:p>
              <a:pPr marL="0" lvl="0" indent="0" algn="r" rtl="1">
                <a:lnSpc>
                  <a:spcPts val="4480"/>
                </a:lnSpc>
              </a:pPr>
              <a:r>
                <a:rPr lang="ar-LY" sz="3200" b="1" i="0" dirty="0">
                  <a:solidFill>
                    <a:srgbClr val="83B3E2"/>
                  </a:solidFill>
                  <a:effectLst/>
                  <a:latin typeface="Segoe UI" panose="020B0502040204020203" pitchFamily="34" charset="0"/>
                  <a:cs typeface="Segoe UI" panose="020B0502040204020203" pitchFamily="34" charset="0"/>
                </a:rPr>
                <a:t>كيف تعمل معًا</a:t>
              </a:r>
              <a:endParaRPr lang="ar-EG" sz="3200" b="1" spc="-80"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1" name="TextBox 11"/>
            <p:cNvSpPr txBox="1"/>
            <p:nvPr/>
          </p:nvSpPr>
          <p:spPr>
            <a:xfrm>
              <a:off x="0" y="4727539"/>
              <a:ext cx="11099800" cy="1969771"/>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المستخدم يختار نظام الكتابة ← </a:t>
              </a:r>
              <a:r>
                <a:rPr lang="en-US" sz="2400" b="0" i="0" dirty="0">
                  <a:solidFill>
                    <a:srgbClr val="C6D8F1"/>
                  </a:solidFill>
                  <a:effectLst/>
                  <a:latin typeface="Segoe UI" panose="020B0502040204020203" pitchFamily="34" charset="0"/>
                  <a:cs typeface="Segoe UI" panose="020B0502040204020203" pitchFamily="34" charset="0"/>
                </a:rPr>
                <a:t> Proxy </a:t>
              </a:r>
              <a:r>
                <a:rPr lang="ar-LY" sz="2400" b="0" i="0" dirty="0">
                  <a:solidFill>
                    <a:srgbClr val="C6D8F1"/>
                  </a:solidFill>
                  <a:effectLst/>
                  <a:latin typeface="Segoe UI" panose="020B0502040204020203" pitchFamily="34" charset="0"/>
                  <a:cs typeface="Segoe UI" panose="020B0502040204020203" pitchFamily="34" charset="0"/>
                </a:rPr>
                <a:t>يتحقق من الصلاحية</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en-US" sz="2400" b="0" i="0" dirty="0">
                  <a:solidFill>
                    <a:srgbClr val="C6D8F1"/>
                  </a:solidFill>
                  <a:effectLst/>
                  <a:latin typeface="Segoe UI" panose="020B0502040204020203" pitchFamily="34" charset="0"/>
                  <a:cs typeface="Segoe UI" panose="020B0502040204020203" pitchFamily="34" charset="0"/>
                </a:rPr>
                <a:t> Prototype </a:t>
              </a:r>
              <a:r>
                <a:rPr lang="ar-LY" sz="2400" b="0" i="0" dirty="0">
                  <a:solidFill>
                    <a:srgbClr val="C6D8F1"/>
                  </a:solidFill>
                  <a:effectLst/>
                  <a:latin typeface="Segoe UI" panose="020B0502040204020203" pitchFamily="34" charset="0"/>
                  <a:cs typeface="Segoe UI" panose="020B0502040204020203" pitchFamily="34" charset="0"/>
                </a:rPr>
                <a:t>يستنسخ المشفر المناسب</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en-US" sz="2400" b="0" i="0" dirty="0">
                  <a:solidFill>
                    <a:srgbClr val="C6D8F1"/>
                  </a:solidFill>
                  <a:effectLst/>
                  <a:latin typeface="Segoe UI" panose="020B0502040204020203" pitchFamily="34" charset="0"/>
                  <a:cs typeface="Segoe UI" panose="020B0502040204020203" pitchFamily="34" charset="0"/>
                </a:rPr>
                <a:t> Strategy </a:t>
              </a:r>
              <a:r>
                <a:rPr lang="ar-LY" sz="2400" b="0" i="0" dirty="0">
                  <a:solidFill>
                    <a:srgbClr val="C6D8F1"/>
                  </a:solidFill>
                  <a:effectLst/>
                  <a:latin typeface="Segoe UI" panose="020B0502040204020203" pitchFamily="34" charset="0"/>
                  <a:cs typeface="Segoe UI" panose="020B0502040204020203" pitchFamily="34" charset="0"/>
                </a:rPr>
                <a:t>تطبق أسلوب العرض المختار</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النتيجة تُعرض في الواجهة</a:t>
              </a:r>
              <a:endParaRPr lang="ar-LY" sz="2400" dirty="0">
                <a:solidFill>
                  <a:srgbClr val="C6D8F1"/>
                </a:solidFill>
                <a:latin typeface="Segoe UI" panose="020B0502040204020203" pitchFamily="34" charset="0"/>
                <a:cs typeface="Segoe UI" panose="020B0502040204020203" pitchFamily="34" charset="0"/>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82975" y="8227887"/>
            <a:ext cx="11020420" cy="9571656"/>
            <a:chOff x="0" y="0"/>
            <a:chExt cx="2902498" cy="2520930"/>
          </a:xfrm>
        </p:grpSpPr>
        <p:sp>
          <p:nvSpPr>
            <p:cNvPr id="3" name="Freeform 3"/>
            <p:cNvSpPr/>
            <p:nvPr/>
          </p:nvSpPr>
          <p:spPr>
            <a:xfrm>
              <a:off x="0" y="0"/>
              <a:ext cx="2902498" cy="2520930"/>
            </a:xfrm>
            <a:custGeom>
              <a:avLst/>
              <a:gdLst/>
              <a:ahLst/>
              <a:cxnLst/>
              <a:rect l="l" t="t" r="r" b="b"/>
              <a:pathLst>
                <a:path w="2902498" h="2520930">
                  <a:moveTo>
                    <a:pt x="25993" y="0"/>
                  </a:moveTo>
                  <a:lnTo>
                    <a:pt x="2876505" y="0"/>
                  </a:lnTo>
                  <a:cubicBezTo>
                    <a:pt x="2883399" y="0"/>
                    <a:pt x="2890010" y="2739"/>
                    <a:pt x="2894885" y="7613"/>
                  </a:cubicBezTo>
                  <a:cubicBezTo>
                    <a:pt x="2899759" y="12488"/>
                    <a:pt x="2902498" y="19099"/>
                    <a:pt x="2902498" y="25993"/>
                  </a:cubicBezTo>
                  <a:lnTo>
                    <a:pt x="2902498" y="2494937"/>
                  </a:lnTo>
                  <a:cubicBezTo>
                    <a:pt x="2902498" y="2501831"/>
                    <a:pt x="2899759" y="2508442"/>
                    <a:pt x="2894885" y="2513317"/>
                  </a:cubicBezTo>
                  <a:cubicBezTo>
                    <a:pt x="2890010" y="2518191"/>
                    <a:pt x="2883399" y="2520930"/>
                    <a:pt x="2876505" y="2520930"/>
                  </a:cubicBezTo>
                  <a:lnTo>
                    <a:pt x="25993" y="2520930"/>
                  </a:lnTo>
                  <a:cubicBezTo>
                    <a:pt x="19099" y="2520930"/>
                    <a:pt x="12488" y="2518191"/>
                    <a:pt x="7613" y="2513317"/>
                  </a:cubicBezTo>
                  <a:cubicBezTo>
                    <a:pt x="2739" y="2508442"/>
                    <a:pt x="0" y="2501831"/>
                    <a:pt x="0" y="2494937"/>
                  </a:cubicBezTo>
                  <a:lnTo>
                    <a:pt x="0" y="25993"/>
                  </a:lnTo>
                  <a:cubicBezTo>
                    <a:pt x="0" y="19099"/>
                    <a:pt x="2739" y="12488"/>
                    <a:pt x="7613" y="7613"/>
                  </a:cubicBezTo>
                  <a:cubicBezTo>
                    <a:pt x="12488" y="2739"/>
                    <a:pt x="19099" y="0"/>
                    <a:pt x="25993" y="0"/>
                  </a:cubicBezTo>
                  <a:close/>
                </a:path>
              </a:pathLst>
            </a:custGeom>
            <a:solidFill>
              <a:srgbClr val="000000">
                <a:alpha val="0"/>
              </a:srgbClr>
            </a:solidFill>
            <a:ln w="28575" cap="rnd">
              <a:solidFill>
                <a:srgbClr val="253439"/>
              </a:solidFill>
              <a:prstDash val="sysDot"/>
              <a:round/>
            </a:ln>
          </p:spPr>
        </p:sp>
        <p:sp>
          <p:nvSpPr>
            <p:cNvPr id="4" name="TextBox 4"/>
            <p:cNvSpPr txBox="1"/>
            <p:nvPr/>
          </p:nvSpPr>
          <p:spPr>
            <a:xfrm>
              <a:off x="0" y="-57150"/>
              <a:ext cx="2902498" cy="2578080"/>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5" name="Freeform 5"/>
          <p:cNvSpPr/>
          <p:nvPr/>
        </p:nvSpPr>
        <p:spPr>
          <a:xfrm flipV="1">
            <a:off x="17239008" y="9258300"/>
            <a:ext cx="382242" cy="382242"/>
          </a:xfrm>
          <a:custGeom>
            <a:avLst/>
            <a:gdLst/>
            <a:ahLst/>
            <a:cxnLst/>
            <a:rect l="l" t="t" r="r" b="b"/>
            <a:pathLst>
              <a:path w="382242" h="382242">
                <a:moveTo>
                  <a:pt x="0" y="382242"/>
                </a:moveTo>
                <a:lnTo>
                  <a:pt x="382242" y="382242"/>
                </a:lnTo>
                <a:lnTo>
                  <a:pt x="382242" y="0"/>
                </a:lnTo>
                <a:lnTo>
                  <a:pt x="0" y="0"/>
                </a:lnTo>
                <a:lnTo>
                  <a:pt x="0" y="38224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58038" y="5801446"/>
            <a:ext cx="16280969" cy="2319674"/>
          </a:xfrm>
          <a:custGeom>
            <a:avLst/>
            <a:gdLst/>
            <a:ahLst/>
            <a:cxnLst/>
            <a:rect l="l" t="t" r="r" b="b"/>
            <a:pathLst>
              <a:path w="16280969" h="2319674">
                <a:moveTo>
                  <a:pt x="0" y="0"/>
                </a:moveTo>
                <a:lnTo>
                  <a:pt x="16280970" y="0"/>
                </a:lnTo>
                <a:lnTo>
                  <a:pt x="16280970" y="2319674"/>
                </a:lnTo>
                <a:lnTo>
                  <a:pt x="0" y="2319674"/>
                </a:lnTo>
                <a:lnTo>
                  <a:pt x="0" y="0"/>
                </a:lnTo>
                <a:close/>
              </a:path>
            </a:pathLst>
          </a:custGeom>
          <a:blipFill>
            <a:blip r:embed="rId4"/>
            <a:stretch>
              <a:fillRect l="-1343" r="-1343"/>
            </a:stretch>
          </a:blipFill>
        </p:spPr>
      </p:sp>
      <p:sp>
        <p:nvSpPr>
          <p:cNvPr id="7" name="TextBox 7"/>
          <p:cNvSpPr txBox="1"/>
          <p:nvPr/>
        </p:nvSpPr>
        <p:spPr>
          <a:xfrm>
            <a:off x="666750" y="771525"/>
            <a:ext cx="16954500" cy="984885"/>
          </a:xfrm>
          <a:prstGeom prst="rect">
            <a:avLst/>
          </a:prstGeom>
        </p:spPr>
        <p:txBody>
          <a:bodyPr lIns="0" tIns="0" rIns="0" bIns="0" rtlCol="0" anchor="t">
            <a:spAutoFit/>
          </a:bodyPr>
          <a:lstStyle/>
          <a:p>
            <a:pPr marL="0" lvl="0" indent="0" algn="r" rtl="1">
              <a:lnSpc>
                <a:spcPts val="7560"/>
              </a:lnSpc>
              <a:spcBef>
                <a:spcPct val="0"/>
              </a:spcBef>
            </a:pPr>
            <a:r>
              <a:rPr lang="ar-LY" sz="7200" b="0" i="0" dirty="0">
                <a:solidFill>
                  <a:srgbClr val="56A5E4"/>
                </a:solidFill>
                <a:effectLst/>
                <a:latin typeface="Segoe UI" panose="020B0502040204020203" pitchFamily="34" charset="0"/>
                <a:cs typeface="Segoe UI" panose="020B0502040204020203" pitchFamily="34" charset="0"/>
              </a:rPr>
              <a:t>سيناريوهات الاستخدام</a:t>
            </a:r>
            <a:endParaRPr lang="ar-EG" sz="7200" u="none" strike="noStrike" spc="-180" dirty="0">
              <a:solidFill>
                <a:srgbClr val="56A5E4"/>
              </a:solidFill>
              <a:latin typeface="Segoe UI" panose="020B0502040204020203" pitchFamily="34" charset="0"/>
              <a:ea typeface="Barlow"/>
              <a:cs typeface="Segoe UI" panose="020B0502040204020203" pitchFamily="34" charset="0"/>
              <a:sym typeface="Barlow"/>
              <a:rtl/>
            </a:endParaRPr>
          </a:p>
        </p:txBody>
      </p:sp>
      <p:grpSp>
        <p:nvGrpSpPr>
          <p:cNvPr id="8" name="Group 8"/>
          <p:cNvGrpSpPr/>
          <p:nvPr/>
        </p:nvGrpSpPr>
        <p:grpSpPr>
          <a:xfrm>
            <a:off x="666750" y="2407444"/>
            <a:ext cx="5448300" cy="2386973"/>
            <a:chOff x="0" y="-66675"/>
            <a:chExt cx="7264400" cy="3182630"/>
          </a:xfrm>
        </p:grpSpPr>
        <p:sp>
          <p:nvSpPr>
            <p:cNvPr id="9" name="TextBox 9"/>
            <p:cNvSpPr txBox="1"/>
            <p:nvPr/>
          </p:nvSpPr>
          <p:spPr>
            <a:xfrm>
              <a:off x="0" y="-66675"/>
              <a:ext cx="7264400" cy="707602"/>
            </a:xfrm>
            <a:prstGeom prst="rect">
              <a:avLst/>
            </a:prstGeom>
          </p:spPr>
          <p:txBody>
            <a:bodyPr lIns="0" tIns="0" rIns="0" bIns="0" rtlCol="0" anchor="t">
              <a:spAutoFit/>
            </a:bodyPr>
            <a:lstStyle/>
            <a:p>
              <a:pPr marL="0" lvl="0" indent="0" algn="r" rtl="1">
                <a:lnSpc>
                  <a:spcPts val="4479"/>
                </a:lnSpc>
                <a:spcBef>
                  <a:spcPct val="0"/>
                </a:spcBef>
              </a:pPr>
              <a:r>
                <a:rPr lang="ar-LY" sz="3200" b="1" i="0" dirty="0">
                  <a:solidFill>
                    <a:srgbClr val="83B3E2"/>
                  </a:solidFill>
                  <a:effectLst/>
                  <a:latin typeface="Segoe UI" panose="020B0502040204020203" pitchFamily="34" charset="0"/>
                  <a:cs typeface="Segoe UI" panose="020B0502040204020203" pitchFamily="34" charset="0"/>
                </a:rPr>
                <a:t>الحالة 3: فك التشفير</a:t>
              </a:r>
              <a:endParaRPr lang="ar-EG" sz="3199" b="1" spc="-79"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0" name="TextBox 10"/>
            <p:cNvSpPr txBox="1"/>
            <p:nvPr/>
          </p:nvSpPr>
          <p:spPr>
            <a:xfrm>
              <a:off x="0" y="1146185"/>
              <a:ext cx="7264400" cy="1969770"/>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المستخدم: باحث</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النص المدخل: .... . .-.. .-.. ---</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الوضع: فك التشفير</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الناتج: </a:t>
              </a:r>
              <a:r>
                <a:rPr lang="en-US" sz="2400" b="0" i="0" dirty="0">
                  <a:solidFill>
                    <a:srgbClr val="C6D8F1"/>
                  </a:solidFill>
                  <a:effectLst/>
                  <a:latin typeface="Segoe UI" panose="020B0502040204020203" pitchFamily="34" charset="0"/>
                  <a:cs typeface="Segoe UI" panose="020B0502040204020203" pitchFamily="34" charset="0"/>
                </a:rPr>
                <a:t>HELLO</a:t>
              </a:r>
              <a:endParaRPr lang="en-US" sz="2400" dirty="0">
                <a:solidFill>
                  <a:srgbClr val="C6D8F1"/>
                </a:solidFill>
                <a:latin typeface="Segoe UI" panose="020B0502040204020203" pitchFamily="34" charset="0"/>
                <a:cs typeface="Segoe UI" panose="020B0502040204020203" pitchFamily="34" charset="0"/>
              </a:endParaRPr>
            </a:p>
          </p:txBody>
        </p:sp>
      </p:grpSp>
      <p:grpSp>
        <p:nvGrpSpPr>
          <p:cNvPr id="11" name="Group 11"/>
          <p:cNvGrpSpPr/>
          <p:nvPr/>
        </p:nvGrpSpPr>
        <p:grpSpPr>
          <a:xfrm>
            <a:off x="6419850" y="2407399"/>
            <a:ext cx="5448300" cy="2387010"/>
            <a:chOff x="0" y="-66675"/>
            <a:chExt cx="7264400" cy="3182681"/>
          </a:xfrm>
        </p:grpSpPr>
        <p:sp>
          <p:nvSpPr>
            <p:cNvPr id="12" name="TextBox 12"/>
            <p:cNvSpPr txBox="1"/>
            <p:nvPr/>
          </p:nvSpPr>
          <p:spPr>
            <a:xfrm>
              <a:off x="0" y="-66675"/>
              <a:ext cx="7264400" cy="715434"/>
            </a:xfrm>
            <a:prstGeom prst="rect">
              <a:avLst/>
            </a:prstGeom>
          </p:spPr>
          <p:txBody>
            <a:bodyPr lIns="0" tIns="0" rIns="0" bIns="0" rtlCol="0" anchor="t">
              <a:spAutoFit/>
            </a:bodyPr>
            <a:lstStyle/>
            <a:p>
              <a:pPr marL="0" lvl="0" indent="0" algn="r" rtl="1">
                <a:lnSpc>
                  <a:spcPts val="4479"/>
                </a:lnSpc>
                <a:spcBef>
                  <a:spcPct val="0"/>
                </a:spcBef>
              </a:pPr>
              <a:r>
                <a:rPr lang="ar-LY" sz="3200" b="1" i="0" dirty="0">
                  <a:solidFill>
                    <a:srgbClr val="83B3E2"/>
                  </a:solidFill>
                  <a:effectLst/>
                  <a:latin typeface="Segoe UI" panose="020B0502040204020203" pitchFamily="34" charset="0"/>
                  <a:cs typeface="Segoe UI" panose="020B0502040204020203" pitchFamily="34" charset="0"/>
                </a:rPr>
                <a:t>الحالة 2: منع الوصول</a:t>
              </a:r>
              <a:endParaRPr lang="ar-EG" sz="3199" b="1" spc="-79"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3" name="TextBox 13"/>
            <p:cNvSpPr txBox="1"/>
            <p:nvPr/>
          </p:nvSpPr>
          <p:spPr>
            <a:xfrm>
              <a:off x="0" y="1146235"/>
              <a:ext cx="7264400" cy="1969771"/>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المستخدم: طالب</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النظام المختار: الرموز السرية</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الرد: "❌ غير مسموح لك باستخدام الرموز السرية"</a:t>
              </a:r>
              <a:endParaRPr lang="ar-LY" sz="2400" dirty="0">
                <a:solidFill>
                  <a:srgbClr val="C6D8F1"/>
                </a:solidFill>
                <a:latin typeface="Segoe UI" panose="020B0502040204020203" pitchFamily="34" charset="0"/>
                <a:cs typeface="Segoe UI" panose="020B0502040204020203" pitchFamily="34" charset="0"/>
              </a:endParaRPr>
            </a:p>
          </p:txBody>
        </p:sp>
      </p:grpSp>
      <p:grpSp>
        <p:nvGrpSpPr>
          <p:cNvPr id="14" name="Group 14"/>
          <p:cNvGrpSpPr/>
          <p:nvPr/>
        </p:nvGrpSpPr>
        <p:grpSpPr>
          <a:xfrm>
            <a:off x="12172950" y="2407399"/>
            <a:ext cx="5448300" cy="2756341"/>
            <a:chOff x="0" y="-66675"/>
            <a:chExt cx="7264400" cy="3675122"/>
          </a:xfrm>
        </p:grpSpPr>
        <p:sp>
          <p:nvSpPr>
            <p:cNvPr id="15" name="TextBox 15"/>
            <p:cNvSpPr txBox="1"/>
            <p:nvPr/>
          </p:nvSpPr>
          <p:spPr>
            <a:xfrm>
              <a:off x="0" y="-66675"/>
              <a:ext cx="7264400" cy="715434"/>
            </a:xfrm>
            <a:prstGeom prst="rect">
              <a:avLst/>
            </a:prstGeom>
          </p:spPr>
          <p:txBody>
            <a:bodyPr lIns="0" tIns="0" rIns="0" bIns="0" rtlCol="0" anchor="t">
              <a:spAutoFit/>
            </a:bodyPr>
            <a:lstStyle/>
            <a:p>
              <a:pPr marL="0" lvl="0" indent="0" algn="r" rtl="1">
                <a:lnSpc>
                  <a:spcPts val="4479"/>
                </a:lnSpc>
                <a:spcBef>
                  <a:spcPct val="0"/>
                </a:spcBef>
              </a:pPr>
              <a:r>
                <a:rPr lang="ar-LY" sz="3200" b="1" i="0" dirty="0">
                  <a:solidFill>
                    <a:srgbClr val="83B3E2"/>
                  </a:solidFill>
                  <a:effectLst/>
                  <a:latin typeface="Segoe UI" panose="020B0502040204020203" pitchFamily="34" charset="0"/>
                  <a:cs typeface="Segoe UI" panose="020B0502040204020203" pitchFamily="34" charset="0"/>
                </a:rPr>
                <a:t>الحالة 1: التحويل الأساسي</a:t>
              </a:r>
              <a:endParaRPr lang="ar-EG" sz="3199" b="1" spc="-79" dirty="0">
                <a:solidFill>
                  <a:srgbClr val="83B3E2"/>
                </a:solidFill>
                <a:latin typeface="Segoe UI" panose="020B0502040204020203" pitchFamily="34" charset="0"/>
                <a:ea typeface="Barlow Bold"/>
                <a:cs typeface="Segoe UI" panose="020B0502040204020203" pitchFamily="34" charset="0"/>
                <a:sym typeface="Barlow Bold"/>
                <a:rtl/>
              </a:endParaRPr>
            </a:p>
          </p:txBody>
        </p:sp>
        <p:sp>
          <p:nvSpPr>
            <p:cNvPr id="16" name="TextBox 16"/>
            <p:cNvSpPr txBox="1"/>
            <p:nvPr/>
          </p:nvSpPr>
          <p:spPr>
            <a:xfrm>
              <a:off x="0" y="1146235"/>
              <a:ext cx="7264400" cy="2462212"/>
            </a:xfrm>
            <a:prstGeom prst="rect">
              <a:avLst/>
            </a:prstGeom>
          </p:spPr>
          <p:txBody>
            <a:bodyPr lIns="0" tIns="0" rIns="0" bIns="0" rtlCol="0" anchor="t">
              <a:spAutoFit/>
            </a:bodyPr>
            <a:lstStyle/>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المستخدم: باحث</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النص المدخل:</a:t>
              </a:r>
              <a:r>
                <a:rPr lang="en-US" sz="2400" b="0" i="0" dirty="0">
                  <a:solidFill>
                    <a:srgbClr val="C6D8F1"/>
                  </a:solidFill>
                  <a:effectLst/>
                  <a:latin typeface="Segoe UI" panose="020B0502040204020203" pitchFamily="34" charset="0"/>
                  <a:cs typeface="Segoe UI" panose="020B0502040204020203" pitchFamily="34" charset="0"/>
                </a:rPr>
                <a:t>  SOS </a:t>
              </a:r>
              <a:endParaRPr lang="en-US"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النظام المختار: مورس</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أسلوب العرض: مفصل</a:t>
              </a:r>
              <a:endParaRPr lang="ar-LY" sz="2400" dirty="0">
                <a:solidFill>
                  <a:srgbClr val="C6D8F1"/>
                </a:solidFill>
                <a:latin typeface="Segoe UI" panose="020B0502040204020203" pitchFamily="34" charset="0"/>
                <a:cs typeface="Segoe UI" panose="020B0502040204020203" pitchFamily="34" charset="0"/>
              </a:endParaRPr>
            </a:p>
            <a:p>
              <a:pPr marL="342900" indent="-342900" algn="r" rtl="1">
                <a:buFont typeface="Arial" panose="020B0604020202020204" pitchFamily="34" charset="0"/>
                <a:buChar char="•"/>
              </a:pPr>
              <a:r>
                <a:rPr lang="ar-LY" sz="2400" b="0" i="0" dirty="0">
                  <a:solidFill>
                    <a:srgbClr val="C6D8F1"/>
                  </a:solidFill>
                  <a:effectLst/>
                  <a:latin typeface="Segoe UI" panose="020B0502040204020203" pitchFamily="34" charset="0"/>
                  <a:cs typeface="Segoe UI" panose="020B0502040204020203" pitchFamily="34" charset="0"/>
                </a:rPr>
                <a:t>الناتج: </a:t>
              </a:r>
              <a:r>
                <a:rPr lang="en-US" sz="2400" b="0" i="0" dirty="0">
                  <a:solidFill>
                    <a:srgbClr val="C6D8F1"/>
                  </a:solidFill>
                  <a:effectLst/>
                  <a:latin typeface="Segoe UI" panose="020B0502040204020203" pitchFamily="34" charset="0"/>
                  <a:cs typeface="Segoe UI" panose="020B0502040204020203" pitchFamily="34" charset="0"/>
                </a:rPr>
                <a:t>S=..., O=---, S=...</a:t>
              </a:r>
              <a:endParaRPr lang="en-US" sz="2400" dirty="0">
                <a:solidFill>
                  <a:srgbClr val="C6D8F1"/>
                </a:solidFill>
                <a:latin typeface="Segoe UI" panose="020B0502040204020203" pitchFamily="34" charset="0"/>
                <a:cs typeface="Segoe UI" panose="020B0502040204020203" pitchFamily="34" charset="0"/>
              </a:endParaRPr>
            </a:p>
          </p:txBody>
        </p:sp>
      </p:grpSp>
      <p:sp>
        <p:nvSpPr>
          <p:cNvPr id="17" name="AutoShape 17"/>
          <p:cNvSpPr/>
          <p:nvPr/>
        </p:nvSpPr>
        <p:spPr>
          <a:xfrm flipV="1">
            <a:off x="12172950" y="6449949"/>
            <a:ext cx="902970" cy="987552"/>
          </a:xfrm>
          <a:prstGeom prst="line">
            <a:avLst/>
          </a:prstGeom>
          <a:ln w="38100" cap="flat">
            <a:solidFill>
              <a:srgbClr val="B6B5B5"/>
            </a:solidFill>
            <a:prstDash val="solid"/>
            <a:headEnd type="none" w="sm" len="sm"/>
            <a:tailEnd type="none" w="sm" len="sm"/>
          </a:ln>
        </p:spPr>
      </p:sp>
      <p:sp>
        <p:nvSpPr>
          <p:cNvPr id="18" name="AutoShape 18"/>
          <p:cNvSpPr/>
          <p:nvPr/>
        </p:nvSpPr>
        <p:spPr>
          <a:xfrm>
            <a:off x="4697730" y="6449949"/>
            <a:ext cx="6606540" cy="987552"/>
          </a:xfrm>
          <a:prstGeom prst="line">
            <a:avLst/>
          </a:prstGeom>
          <a:ln w="38100" cap="flat">
            <a:solidFill>
              <a:srgbClr val="B6B5B5"/>
            </a:solidFill>
            <a:prstDash val="solid"/>
            <a:headEnd type="none" w="sm" len="sm"/>
            <a:tailEnd type="none" w="sm" len="sm"/>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394212" y="684081"/>
            <a:ext cx="8252337" cy="10287000"/>
            <a:chOff x="0" y="0"/>
            <a:chExt cx="2173455" cy="2709333"/>
          </a:xfrm>
        </p:grpSpPr>
        <p:sp>
          <p:nvSpPr>
            <p:cNvPr id="3" name="Freeform 3"/>
            <p:cNvSpPr/>
            <p:nvPr/>
          </p:nvSpPr>
          <p:spPr>
            <a:xfrm>
              <a:off x="0" y="0"/>
              <a:ext cx="2173455" cy="2709333"/>
            </a:xfrm>
            <a:custGeom>
              <a:avLst/>
              <a:gdLst/>
              <a:ahLst/>
              <a:cxnLst/>
              <a:rect l="l" t="t" r="r" b="b"/>
              <a:pathLst>
                <a:path w="2173455" h="2709333">
                  <a:moveTo>
                    <a:pt x="35650" y="0"/>
                  </a:moveTo>
                  <a:lnTo>
                    <a:pt x="2137806" y="0"/>
                  </a:lnTo>
                  <a:cubicBezTo>
                    <a:pt x="2157494" y="0"/>
                    <a:pt x="2173455" y="15961"/>
                    <a:pt x="2173455" y="35650"/>
                  </a:cubicBezTo>
                  <a:lnTo>
                    <a:pt x="2173455" y="2673684"/>
                  </a:lnTo>
                  <a:cubicBezTo>
                    <a:pt x="2173455" y="2683139"/>
                    <a:pt x="2169699" y="2692206"/>
                    <a:pt x="2163014" y="2698892"/>
                  </a:cubicBezTo>
                  <a:cubicBezTo>
                    <a:pt x="2156328" y="2705577"/>
                    <a:pt x="2147260" y="2709333"/>
                    <a:pt x="2137806" y="2709333"/>
                  </a:cubicBezTo>
                  <a:lnTo>
                    <a:pt x="35650" y="2709333"/>
                  </a:lnTo>
                  <a:cubicBezTo>
                    <a:pt x="15961" y="2709333"/>
                    <a:pt x="0" y="2693372"/>
                    <a:pt x="0" y="2673684"/>
                  </a:cubicBezTo>
                  <a:lnTo>
                    <a:pt x="0" y="35650"/>
                  </a:lnTo>
                  <a:cubicBezTo>
                    <a:pt x="0" y="26195"/>
                    <a:pt x="3756" y="17127"/>
                    <a:pt x="10442" y="10442"/>
                  </a:cubicBezTo>
                  <a:cubicBezTo>
                    <a:pt x="17127" y="3756"/>
                    <a:pt x="26195" y="0"/>
                    <a:pt x="35650" y="0"/>
                  </a:cubicBezTo>
                  <a:close/>
                </a:path>
              </a:pathLst>
            </a:custGeom>
            <a:solidFill>
              <a:srgbClr val="1F4E79"/>
            </a:solidFill>
          </p:spPr>
        </p:sp>
        <p:sp>
          <p:nvSpPr>
            <p:cNvPr id="4" name="TextBox 4"/>
            <p:cNvSpPr txBox="1"/>
            <p:nvPr/>
          </p:nvSpPr>
          <p:spPr>
            <a:xfrm>
              <a:off x="0" y="-57150"/>
              <a:ext cx="2173455" cy="276648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338975" y="6935609"/>
            <a:ext cx="5025275" cy="4344738"/>
            <a:chOff x="0" y="0"/>
            <a:chExt cx="1323529" cy="1144293"/>
          </a:xfrm>
        </p:grpSpPr>
        <p:sp>
          <p:nvSpPr>
            <p:cNvPr id="6" name="Freeform 6"/>
            <p:cNvSpPr/>
            <p:nvPr/>
          </p:nvSpPr>
          <p:spPr>
            <a:xfrm>
              <a:off x="0" y="0"/>
              <a:ext cx="1323529" cy="1144293"/>
            </a:xfrm>
            <a:custGeom>
              <a:avLst/>
              <a:gdLst/>
              <a:ahLst/>
              <a:cxnLst/>
              <a:rect l="l" t="t" r="r" b="b"/>
              <a:pathLst>
                <a:path w="1323529" h="1144293">
                  <a:moveTo>
                    <a:pt x="57002" y="0"/>
                  </a:moveTo>
                  <a:lnTo>
                    <a:pt x="1266527" y="0"/>
                  </a:lnTo>
                  <a:cubicBezTo>
                    <a:pt x="1281645" y="0"/>
                    <a:pt x="1296144" y="6006"/>
                    <a:pt x="1306834" y="16696"/>
                  </a:cubicBezTo>
                  <a:cubicBezTo>
                    <a:pt x="1317524" y="27385"/>
                    <a:pt x="1323529" y="41884"/>
                    <a:pt x="1323529" y="57002"/>
                  </a:cubicBezTo>
                  <a:lnTo>
                    <a:pt x="1323529" y="1087291"/>
                  </a:lnTo>
                  <a:cubicBezTo>
                    <a:pt x="1323529" y="1102409"/>
                    <a:pt x="1317524" y="1116908"/>
                    <a:pt x="1306834" y="1127598"/>
                  </a:cubicBezTo>
                  <a:cubicBezTo>
                    <a:pt x="1296144" y="1138288"/>
                    <a:pt x="1281645" y="1144293"/>
                    <a:pt x="1266527" y="1144293"/>
                  </a:cubicBezTo>
                  <a:lnTo>
                    <a:pt x="57002" y="1144293"/>
                  </a:lnTo>
                  <a:cubicBezTo>
                    <a:pt x="41884" y="1144293"/>
                    <a:pt x="27385" y="1138288"/>
                    <a:pt x="16696" y="1127598"/>
                  </a:cubicBezTo>
                  <a:cubicBezTo>
                    <a:pt x="6006" y="1116908"/>
                    <a:pt x="0" y="1102409"/>
                    <a:pt x="0" y="1087291"/>
                  </a:cubicBezTo>
                  <a:lnTo>
                    <a:pt x="0" y="57002"/>
                  </a:lnTo>
                  <a:cubicBezTo>
                    <a:pt x="0" y="41884"/>
                    <a:pt x="6006" y="27385"/>
                    <a:pt x="16696" y="16696"/>
                  </a:cubicBezTo>
                  <a:cubicBezTo>
                    <a:pt x="27385" y="6006"/>
                    <a:pt x="41884" y="0"/>
                    <a:pt x="57002" y="0"/>
                  </a:cubicBezTo>
                  <a:close/>
                </a:path>
              </a:pathLst>
            </a:custGeom>
            <a:solidFill>
              <a:srgbClr val="000000">
                <a:alpha val="0"/>
              </a:srgbClr>
            </a:solidFill>
            <a:ln w="28575" cap="rnd">
              <a:solidFill>
                <a:srgbClr val="253439"/>
              </a:solidFill>
              <a:prstDash val="sysDot"/>
              <a:round/>
            </a:ln>
          </p:spPr>
        </p:sp>
        <p:sp>
          <p:nvSpPr>
            <p:cNvPr id="7" name="TextBox 7"/>
            <p:cNvSpPr txBox="1"/>
            <p:nvPr/>
          </p:nvSpPr>
          <p:spPr>
            <a:xfrm>
              <a:off x="0" y="-57150"/>
              <a:ext cx="1323529" cy="120144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8" name="Freeform 8"/>
          <p:cNvSpPr/>
          <p:nvPr/>
        </p:nvSpPr>
        <p:spPr>
          <a:xfrm>
            <a:off x="3898771" y="7340896"/>
            <a:ext cx="382242" cy="382242"/>
          </a:xfrm>
          <a:custGeom>
            <a:avLst/>
            <a:gdLst/>
            <a:ahLst/>
            <a:cxnLst/>
            <a:rect l="l" t="t" r="r" b="b"/>
            <a:pathLst>
              <a:path w="382242" h="382242">
                <a:moveTo>
                  <a:pt x="0" y="0"/>
                </a:moveTo>
                <a:lnTo>
                  <a:pt x="382242" y="0"/>
                </a:lnTo>
                <a:lnTo>
                  <a:pt x="382242" y="382243"/>
                </a:lnTo>
                <a:lnTo>
                  <a:pt x="0" y="382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9144000" y="2442289"/>
            <a:ext cx="8324850" cy="4727448"/>
          </a:xfrm>
          <a:prstGeom prst="rect">
            <a:avLst/>
          </a:prstGeom>
        </p:spPr>
        <p:txBody>
          <a:bodyPr lIns="0" tIns="0" rIns="0" bIns="0" rtlCol="0" anchor="t">
            <a:spAutoFit/>
          </a:bodyPr>
          <a:lstStyle/>
          <a:p>
            <a:pPr algn="r" rtl="1"/>
            <a:endParaRPr lang="ar-LY" sz="2560" dirty="0">
              <a:solidFill>
                <a:srgbClr val="C6D8F1"/>
              </a:solidFill>
              <a:effectLst/>
              <a:latin typeface="Segoe UI" panose="020B0502040204020203" pitchFamily="34" charset="0"/>
              <a:cs typeface="Segoe UI" panose="020B0502040204020203" pitchFamily="34" charset="0"/>
            </a:endParaRPr>
          </a:p>
          <a:p>
            <a:pPr algn="r" rtl="1"/>
            <a:r>
              <a:rPr lang="ar-LY" sz="2560" b="0" i="0" dirty="0">
                <a:solidFill>
                  <a:srgbClr val="C6D8F1"/>
                </a:solidFill>
                <a:effectLst/>
                <a:latin typeface="Segoe UI" panose="020B0502040204020203" pitchFamily="34" charset="0"/>
                <a:cs typeface="Segoe UI" panose="020B0502040204020203" pitchFamily="34" charset="0"/>
              </a:rPr>
              <a:t>يمثل هذا المشروع نموذجاً عملياً ناجحاً لكيفية تطبيق أنماط التصميم البرمجي في بناء أنظمة برمجية حقيقية. لم تكن الأنماط مجرد نظرية أكاديمية، بل أصبحت أدوات فعالة في حل مشاكل تصميمية حقيقية:</a:t>
            </a:r>
            <a:endParaRPr lang="ar-LY" sz="2560" dirty="0">
              <a:solidFill>
                <a:srgbClr val="C6D8F1"/>
              </a:solidFill>
              <a:effectLst/>
              <a:latin typeface="Segoe UI" panose="020B0502040204020203" pitchFamily="34" charset="0"/>
              <a:cs typeface="Segoe UI" panose="020B0502040204020203" pitchFamily="34" charset="0"/>
            </a:endParaRPr>
          </a:p>
          <a:p>
            <a:pPr marL="457200" indent="-457200" algn="r" rtl="1">
              <a:buFont typeface="Arial" panose="020B0604020202020204" pitchFamily="34" charset="0"/>
              <a:buChar char="•"/>
            </a:pPr>
            <a:r>
              <a:rPr lang="en-US" sz="2560" b="1" i="0" dirty="0">
                <a:solidFill>
                  <a:srgbClr val="C6D8F1"/>
                </a:solidFill>
                <a:effectLst/>
                <a:latin typeface="Segoe UI" panose="020B0502040204020203" pitchFamily="34" charset="0"/>
                <a:cs typeface="Segoe UI" panose="020B0502040204020203" pitchFamily="34" charset="0"/>
              </a:rPr>
              <a:t>Prototype</a:t>
            </a:r>
            <a:r>
              <a:rPr lang="en-US" sz="2560" b="0" i="0" dirty="0">
                <a:solidFill>
                  <a:srgbClr val="C6D8F1"/>
                </a:solidFill>
                <a:effectLst/>
                <a:latin typeface="Segoe UI" panose="020B0502040204020203" pitchFamily="34" charset="0"/>
                <a:cs typeface="Segoe UI" panose="020B0502040204020203" pitchFamily="34" charset="0"/>
              </a:rPr>
              <a:t> </a:t>
            </a:r>
            <a:r>
              <a:rPr lang="ar-EG" sz="2560" b="0" i="0" dirty="0">
                <a:solidFill>
                  <a:srgbClr val="C6D8F1"/>
                </a:solidFill>
                <a:effectLst/>
                <a:latin typeface="Segoe UI" panose="020B0502040204020203" pitchFamily="34" charset="0"/>
                <a:cs typeface="Segoe UI" panose="020B0502040204020203" pitchFamily="34" charset="0"/>
              </a:rPr>
              <a:t> </a:t>
            </a:r>
            <a:r>
              <a:rPr lang="ar-LY" sz="2560" b="0" i="0" dirty="0">
                <a:solidFill>
                  <a:srgbClr val="C6D8F1"/>
                </a:solidFill>
                <a:effectLst/>
                <a:latin typeface="Segoe UI" panose="020B0502040204020203" pitchFamily="34" charset="0"/>
                <a:cs typeface="Segoe UI" panose="020B0502040204020203" pitchFamily="34" charset="0"/>
              </a:rPr>
              <a:t>حل مشكلة الأداء في إنشاء الكائنات</a:t>
            </a:r>
            <a:endParaRPr lang="ar-LY" sz="2560" dirty="0">
              <a:solidFill>
                <a:srgbClr val="C6D8F1"/>
              </a:solidFill>
              <a:latin typeface="Segoe UI" panose="020B0502040204020203" pitchFamily="34" charset="0"/>
              <a:cs typeface="Segoe UI" panose="020B0502040204020203" pitchFamily="34" charset="0"/>
            </a:endParaRPr>
          </a:p>
          <a:p>
            <a:pPr marL="457200" indent="-457200" algn="r" rtl="1">
              <a:buFont typeface="Arial" panose="020B0604020202020204" pitchFamily="34" charset="0"/>
              <a:buChar char="•"/>
            </a:pPr>
            <a:r>
              <a:rPr lang="en-US" sz="2560" b="1" i="0" dirty="0">
                <a:solidFill>
                  <a:srgbClr val="C6D8F1"/>
                </a:solidFill>
                <a:effectLst/>
                <a:latin typeface="Segoe UI" panose="020B0502040204020203" pitchFamily="34" charset="0"/>
                <a:cs typeface="Segoe UI" panose="020B0502040204020203" pitchFamily="34" charset="0"/>
              </a:rPr>
              <a:t> Proxy</a:t>
            </a:r>
            <a:r>
              <a:rPr lang="en-US" sz="2560" b="0" i="0" dirty="0">
                <a:solidFill>
                  <a:srgbClr val="C6D8F1"/>
                </a:solidFill>
                <a:effectLst/>
                <a:latin typeface="Segoe UI" panose="020B0502040204020203" pitchFamily="34" charset="0"/>
                <a:cs typeface="Segoe UI" panose="020B0502040204020203" pitchFamily="34" charset="0"/>
              </a:rPr>
              <a:t> </a:t>
            </a:r>
            <a:r>
              <a:rPr lang="ar-LY" sz="2560" b="0" i="0" dirty="0">
                <a:solidFill>
                  <a:srgbClr val="C6D8F1"/>
                </a:solidFill>
                <a:effectLst/>
                <a:latin typeface="Segoe UI" panose="020B0502040204020203" pitchFamily="34" charset="0"/>
                <a:cs typeface="Segoe UI" panose="020B0502040204020203" pitchFamily="34" charset="0"/>
              </a:rPr>
              <a:t>وفر طبقة أمان ضرورية للنظام</a:t>
            </a:r>
            <a:endParaRPr lang="ar-LY" sz="2560" dirty="0">
              <a:solidFill>
                <a:srgbClr val="C6D8F1"/>
              </a:solidFill>
              <a:latin typeface="Segoe UI" panose="020B0502040204020203" pitchFamily="34" charset="0"/>
              <a:cs typeface="Segoe UI" panose="020B0502040204020203" pitchFamily="34" charset="0"/>
            </a:endParaRPr>
          </a:p>
          <a:p>
            <a:pPr marL="457200" indent="-457200" algn="r" rtl="1">
              <a:buFont typeface="Arial" panose="020B0604020202020204" pitchFamily="34" charset="0"/>
              <a:buChar char="•"/>
            </a:pPr>
            <a:r>
              <a:rPr lang="en-US" sz="2560" b="1" i="0" dirty="0">
                <a:solidFill>
                  <a:srgbClr val="C6D8F1"/>
                </a:solidFill>
                <a:effectLst/>
                <a:latin typeface="Segoe UI" panose="020B0502040204020203" pitchFamily="34" charset="0"/>
                <a:cs typeface="Segoe UI" panose="020B0502040204020203" pitchFamily="34" charset="0"/>
              </a:rPr>
              <a:t> Strategy </a:t>
            </a:r>
            <a:r>
              <a:rPr lang="ar-LY" sz="2560" b="0" i="0" dirty="0">
                <a:solidFill>
                  <a:srgbClr val="C6D8F1"/>
                </a:solidFill>
                <a:effectLst/>
                <a:latin typeface="Segoe UI" panose="020B0502040204020203" pitchFamily="34" charset="0"/>
                <a:cs typeface="Segoe UI" panose="020B0502040204020203" pitchFamily="34" charset="0"/>
              </a:rPr>
              <a:t>أتاح مرونة في سلوك النظام</a:t>
            </a:r>
            <a:endParaRPr lang="ar-LY" sz="2560" dirty="0">
              <a:solidFill>
                <a:srgbClr val="C6D8F1"/>
              </a:solidFill>
              <a:latin typeface="Segoe UI" panose="020B0502040204020203" pitchFamily="34" charset="0"/>
              <a:cs typeface="Segoe UI" panose="020B0502040204020203" pitchFamily="34" charset="0"/>
            </a:endParaRPr>
          </a:p>
          <a:p>
            <a:pPr algn="r" rtl="1"/>
            <a:r>
              <a:rPr lang="ar-LY" sz="2560" b="0" i="0" dirty="0">
                <a:solidFill>
                  <a:srgbClr val="C6D8F1"/>
                </a:solidFill>
                <a:effectLst/>
                <a:latin typeface="Segoe UI" panose="020B0502040204020203" pitchFamily="34" charset="0"/>
                <a:cs typeface="Segoe UI" panose="020B0502040204020203" pitchFamily="34" charset="0"/>
              </a:rPr>
              <a:t>الدرس الأهم من هذا المشروع هو أن أنماط التصميم ليست مجرد حلول جاهزة، بل هي </a:t>
            </a:r>
            <a:r>
              <a:rPr lang="ar-LY" sz="2560" b="1" i="0" dirty="0">
                <a:solidFill>
                  <a:srgbClr val="C6D8F1"/>
                </a:solidFill>
                <a:effectLst/>
                <a:latin typeface="Segoe UI" panose="020B0502040204020203" pitchFamily="34" charset="0"/>
                <a:cs typeface="Segoe UI" panose="020B0502040204020203" pitchFamily="34" charset="0"/>
              </a:rPr>
              <a:t>طريقة تفكير</a:t>
            </a:r>
            <a:r>
              <a:rPr lang="ar-LY" sz="2560" b="0" i="0" dirty="0">
                <a:solidFill>
                  <a:srgbClr val="C6D8F1"/>
                </a:solidFill>
                <a:effectLst/>
                <a:latin typeface="Segoe UI" panose="020B0502040204020203" pitchFamily="34" charset="0"/>
                <a:cs typeface="Segoe UI" panose="020B0502040204020203" pitchFamily="34" charset="0"/>
              </a:rPr>
              <a:t> تساعد المطور على بناء أنظمة قابلة للصيانة، والتوسعة، والتكيف مع المتطلبات المتغيرة.</a:t>
            </a:r>
            <a:endParaRPr lang="ar-LY" sz="2560" dirty="0">
              <a:solidFill>
                <a:srgbClr val="C6D8F1"/>
              </a:solidFill>
              <a:effectLst/>
              <a:latin typeface="Segoe UI" panose="020B0502040204020203" pitchFamily="34" charset="0"/>
              <a:cs typeface="Segoe UI" panose="020B0502040204020203" pitchFamily="34" charset="0"/>
            </a:endParaRPr>
          </a:p>
        </p:txBody>
      </p:sp>
      <p:sp>
        <p:nvSpPr>
          <p:cNvPr id="10" name="TextBox 10"/>
          <p:cNvSpPr txBox="1"/>
          <p:nvPr/>
        </p:nvSpPr>
        <p:spPr>
          <a:xfrm>
            <a:off x="666750" y="1666875"/>
            <a:ext cx="6886575" cy="984885"/>
          </a:xfrm>
          <a:prstGeom prst="rect">
            <a:avLst/>
          </a:prstGeom>
        </p:spPr>
        <p:txBody>
          <a:bodyPr lIns="0" tIns="0" rIns="0" bIns="0" rtlCol="0" anchor="t">
            <a:spAutoFit/>
          </a:bodyPr>
          <a:lstStyle/>
          <a:p>
            <a:pPr marL="0" lvl="0" indent="0" algn="l">
              <a:lnSpc>
                <a:spcPts val="7560"/>
              </a:lnSpc>
              <a:spcBef>
                <a:spcPct val="0"/>
              </a:spcBef>
            </a:pPr>
            <a:r>
              <a:rPr lang="en-US" sz="7200" spc="-180">
                <a:solidFill>
                  <a:srgbClr val="56A5E4"/>
                </a:solidFill>
                <a:latin typeface="Barlow"/>
                <a:ea typeface="Barlow"/>
                <a:cs typeface="Barlow"/>
                <a:sym typeface="Barlow"/>
              </a:rPr>
              <a:t>Conclusion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471</Words>
  <Application>Microsoft Office PowerPoint</Application>
  <PresentationFormat>Custom</PresentationFormat>
  <Paragraphs>89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Segoe UI</vt:lpstr>
      <vt:lpstr>Arial</vt:lpstr>
      <vt:lpstr>Barlow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Smart Alternative Writing Systems Generator</dc:title>
  <dc:description>Presentation - Smart Alternative Writing Systems Generator</dc:description>
  <cp:lastModifiedBy>Bilal Al Shahoumi</cp:lastModifiedBy>
  <cp:revision>6</cp:revision>
  <dcterms:created xsi:type="dcterms:W3CDTF">2006-08-16T00:00:00Z</dcterms:created>
  <dcterms:modified xsi:type="dcterms:W3CDTF">2025-12-14T15:17:29Z</dcterms:modified>
  <dc:identifier>DAG7ewzrgFc</dc:identifier>
</cp:coreProperties>
</file>